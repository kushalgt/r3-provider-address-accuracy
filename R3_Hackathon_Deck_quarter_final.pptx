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1D_9A297450.xml" ContentType="application/vnd.ms-powerpoint.comments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0E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1E_C31C40A8.xml" ContentType="application/vnd.ms-powerpoint.comments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5" r:id="rId4"/>
    <p:sldId id="258" r:id="rId5"/>
    <p:sldId id="259" r:id="rId6"/>
    <p:sldId id="287" r:id="rId7"/>
    <p:sldId id="288" r:id="rId8"/>
    <p:sldId id="289" r:id="rId9"/>
    <p:sldId id="290" r:id="rId10"/>
    <p:sldId id="291" r:id="rId11"/>
    <p:sldId id="292" r:id="rId12"/>
    <p:sldId id="260" r:id="rId13"/>
    <p:sldId id="283" r:id="rId14"/>
    <p:sldId id="264" r:id="rId18"/>
    <p:sldId id="265" r:id="rId19"/>
    <p:sldId id="266" r:id="rId20"/>
    <p:sldId id="267" r:id="rId21"/>
    <p:sldId id="270" r:id="rId22"/>
    <p:sldId id="271" r:id="rId23"/>
    <p:sldId id="269" r:id="rId24"/>
    <p:sldId id="273" r:id="rId25"/>
    <p:sldId id="274" r:id="rId26"/>
    <p:sldId id="275" r:id="rId27"/>
    <p:sldId id="276" r:id="rId28"/>
    <p:sldId id="284" r:id="rId29"/>
    <p:sldId id="278" r:id="rId30"/>
    <p:sldId id="279" r:id="rId31"/>
    <p:sldId id="281" r:id="rId32"/>
    <p:sldId id="286" r:id="rId33"/>
    <p:sldId id="282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E8D376-25C3-CD38-FEE5-927ABFA79D9F}" name="Kushal Gupta" initials="" userId="S::kushal.gupta@hilabs.com::661ef1cd-b31a-44dc-9cd6-ebe3117af6f2" providerId="AD"/>
  <p188:author id="{39660AAC-4507-D804-705C-EDDC53FE86F2}" name="Omkar Kushwaha" initials="OK" userId="S::omkar.kushwaha@hilabs.com::a2414761-92ed-423e-8eab-0f55102c24b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417B8-BD2B-1248-A8B7-6CC30A8681CF}" v="1" dt="2026-07-20T07:44:09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38"/>
  </p:normalViewPr>
  <p:slideViewPr>
    <p:cSldViewPr snapToGrid="0">
      <p:cViewPr varScale="1">
        <p:scale>
          <a:sx n="95" d="100"/>
          <a:sy n="95" d="100"/>
        </p:scale>
        <p:origin x="20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836871-2FA1-40AE-BFD1-F5E6EB5E79E7}" authorId="{39660AAC-4507-D804-705C-EDDC53FE86F2}" created="2026-06-27T14:19:05.380" startDate="2026-06-27T14:19:05.381" dueDate="2026-06-27T14:19:05.381" assignedTo="{BFE8D376-25C3-CD38-FEE5-927ABFA79D9F}" title="We need the net accuracy, precision, recall. Table with 2x2 metrics about false/true positive/negative. @Kushal Gupta @Omkar Kushwaha 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6" creationId="{00000000-0000-0000-0000-000000000000}"/>
    </ac:deMkLst>
    <p188:txBody>
      <a:bodyPr/>
      <a:lstStyle/>
      <a:p>
        <a:r>
          <a:rPr lang="en-IN"/>
          <a:t>We need the net accuracy, precision, recall. Table with 2x2 metrics about false/true positive/negative. @Kushal Gupta [@Omkar Kushwaha]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27T14:19:05.380" id="{9CE09514-4E64-43E8-AD0F-43DDCAE071FF}">
              <p228:atrbtn authorId="{39660AAC-4507-D804-705C-EDDC53FE86F2}"/>
              <p228:anchr>
                <p228:comment id="{CD836871-2FA1-40AE-BFD1-F5E6EB5E79E7}"/>
              </p228:anchr>
              <p228:add/>
            </p228:event>
            <p228:event time="2026-06-27T14:19:05.380" id="{CA98C24F-AF24-4E39-9C11-300EE1861006}">
              <p228:atrbtn authorId="{39660AAC-4507-D804-705C-EDDC53FE86F2}"/>
              <p228:anchr>
                <p228:comment id="{CD836871-2FA1-40AE-BFD1-F5E6EB5E79E7}"/>
              </p228:anchr>
              <p228:asgn authorId="{BFE8D376-25C3-CD38-FEE5-927ABFA79D9F}"/>
            </p228:event>
            <p228:event time="2026-06-27T14:19:05.380" id="{91470870-7742-4517-95E7-8FC100CBA945}">
              <p228:atrbtn authorId="{39660AAC-4507-D804-705C-EDDC53FE86F2}"/>
              <p228:anchr>
                <p228:comment id="{CD836871-2FA1-40AE-BFD1-F5E6EB5E79E7}"/>
              </p228:anchr>
              <p228:title val="We need the net accuracy, precision, recall. Table with 2x2 metrics about false/true positive/negative. @Kushal Gupta @Omkar Kushwaha "/>
            </p228:event>
            <p228:event time="2026-06-27T14:19:05.380" id="{84C461D3-23C4-40E7-B5DB-7B7EBF204073}">
              <p228:atrbtn authorId="{39660AAC-4507-D804-705C-EDDC53FE86F2}"/>
              <p228:anchr>
                <p228:comment id="{CD836871-2FA1-40AE-BFD1-F5E6EB5E79E7}"/>
              </p228:anchr>
              <p228:date stDt="2026-06-27T14:19:05.381" endDt="2026-06-27T14:19:05.381"/>
            </p228:event>
            <p228:event time="2026-06-27T14:19:08.761" id="{949AD24A-906D-4DEC-886B-5B50FFF9066A}">
              <p228:atrbtn authorId="{39660AAC-4507-D804-705C-EDDC53FE86F2}"/>
              <p228:anchr>
                <p228:comment id="{00000000-0000-0000-0000-000000000000}"/>
              </p228:anchr>
              <p228:pcntCmplt val="100000"/>
            </p228:event>
            <p228:event time="2026-06-27T14:19:14.744" id="{35D08D24-B370-4200-90C1-9DAE120EBCDB}">
              <p228:atrbtn authorId="{39660AAC-4507-D804-705C-EDDC53FE86F2}"/>
              <p228:anchr>
                <p228:comment id="{00000000-0000-0000-0000-000000000000}"/>
              </p228:anchr>
              <p228:pcntCmplt val="0"/>
            </p228:event>
          </p228:history>
        </p228:taskDetails>
      </p:ext>
    </p188:extLst>
  </p188:cm>
</p188:cmLst>
</file>

<file path=ppt/comments/modernComment_11D_9A2974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B0832E-A8FA-4E4F-8D93-1E3691AD1E97}" authorId="{39660AAC-4507-D804-705C-EDDC53FE86F2}" created="2026-06-27T14:39:26.8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6408016" sldId="285"/>
      <ac:spMk id="6" creationId="{547BBDFF-6768-4EB8-71CC-4A3032F7CDB9}"/>
    </ac:deMkLst>
    <p188:txBody>
      <a:bodyPr/>
      <a:lstStyle/>
      <a:p>
        <a:r>
          <a:rPr lang="en-IN"/>
          <a:t>Continuous retraining in the production data [@Kushal Gupta] </a:t>
        </a:r>
      </a:p>
    </p188:txBody>
  </p188:cm>
</p188:cmLst>
</file>

<file path=ppt/comments/modernComment_11E_C31C40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065107-1057-41F1-BD39-8B7826810E30}" authorId="{39660AAC-4507-D804-705C-EDDC53FE86F2}" created="2026-06-27T15:06:03.9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73408680" sldId="286"/>
      <ac:spMk id="5" creationId="{6B056ACB-B7A2-1688-FC42-4BC9F8E59D53}"/>
      <ac:txMk cp="704" len="391">
        <ac:context len="1483" hash="2180954120"/>
      </ac:txMk>
    </ac:txMkLst>
    <p188:pos x="9827425" y="3857039"/>
    <p188:txBody>
      <a:bodyPr/>
      <a:lstStyle/>
      <a:p>
        <a:r>
          <a:rPr lang="en-IN"/>
          <a:t>[@Kushal Gupta] 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391BE8-1704-4D2E-9464-614ED89B2C90}" authorId="{39660AAC-4507-D804-705C-EDDC53FE86F2}" created="2026-06-27T14:21:44.700" startDate="2026-06-27T14:21:44.700" dueDate="2026-06-27T14:21:44.700" assignedTo="{BFE8D376-25C3-CD38-FEE5-927ABFA79D9F}" title="Current confusion metric/R3 accuracy or KPI of the base dataset. @Kushal Gupta 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3" creationId="{00000000-0000-0000-0000-000000000000}"/>
    </ac:deMkLst>
    <p188:txBody>
      <a:bodyPr/>
      <a:lstStyle/>
      <a:p>
        <a:r>
          <a:rPr lang="en-IN"/>
          <a:t>Current confusion metric/R3 accuracy or KPI of the base dataset. [@Kushal Gupta]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27T14:21:44.700" id="{8FF04B0A-FE67-45AC-8AD0-D7537AF685C7}">
              <p228:atrbtn authorId="{39660AAC-4507-D804-705C-EDDC53FE86F2}"/>
              <p228:anchr>
                <p228:comment id="{50391BE8-1704-4D2E-9464-614ED89B2C90}"/>
              </p228:anchr>
              <p228:add/>
            </p228:event>
            <p228:event time="2026-06-27T14:21:44.700" id="{B3C7E85C-BC51-4B60-AE72-6645791E11A0}">
              <p228:atrbtn authorId="{39660AAC-4507-D804-705C-EDDC53FE86F2}"/>
              <p228:anchr>
                <p228:comment id="{50391BE8-1704-4D2E-9464-614ED89B2C90}"/>
              </p228:anchr>
              <p228:asgn authorId="{BFE8D376-25C3-CD38-FEE5-927ABFA79D9F}"/>
            </p228:event>
            <p228:event time="2026-06-27T14:21:44.700" id="{4EA0C1E6-CDC5-44AF-8C3C-F033E160ECAB}">
              <p228:atrbtn authorId="{39660AAC-4507-D804-705C-EDDC53FE86F2}"/>
              <p228:anchr>
                <p228:comment id="{50391BE8-1704-4D2E-9464-614ED89B2C90}"/>
              </p228:anchr>
              <p228:title val="Current confusion metric/R3 accuracy or KPI of the base dataset. @Kushal Gupta "/>
            </p228:event>
            <p228:event time="2026-06-27T14:21:44.700" id="{3EBCFEE3-7A56-47A0-8552-898338C784EA}">
              <p228:atrbtn authorId="{39660AAC-4507-D804-705C-EDDC53FE86F2}"/>
              <p228:anchr>
                <p228:comment id="{50391BE8-1704-4D2E-9464-614ED89B2C90}"/>
              </p228:anchr>
              <p228:date stDt="2026-06-27T14:21:44.700" endDt="2026-06-27T14:21:44.700"/>
            </p228:event>
          </p228:history>
        </p228:taskDetails>
      </p:ext>
    </p188:extLst>
  </p188:cm>
  <p188:cm id="{70D55E45-93FB-4568-B9A7-5B2A02044890}" authorId="{39660AAC-4507-D804-705C-EDDC53FE86F2}" created="2026-06-27T14:37:23.609" startDate="2026-06-27T14:37:23.609" dueDate="2026-06-27T14:37:23.609" assignedTo="{39660AAC-4507-D804-705C-EDDC53FE86F2}" title="@Omkar Kushwaha Add the robocall budget for 40% cap and cost card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21" creationId="{00000000-0000-0000-0000-000000000000}"/>
    </ac:deMkLst>
    <p188:txBody>
      <a:bodyPr/>
      <a:lstStyle/>
      <a:p>
        <a:r>
          <a:rPr lang="en-IN"/>
          <a:t>[@Omkar Kushwaha] Add the robocall budget for 40% cap and cost card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6-27T14:37:23.609" id="{212A167B-368F-4EDD-9803-BD0E83E4E04E}">
              <p228:atrbtn authorId="{39660AAC-4507-D804-705C-EDDC53FE86F2}"/>
              <p228:anchr>
                <p228:comment id="{70D55E45-93FB-4568-B9A7-5B2A02044890}"/>
              </p228:anchr>
              <p228:add/>
            </p228:event>
            <p228:event time="2026-06-27T14:37:23.609" id="{978AFC45-F557-4C77-8F6F-25613A4054B5}">
              <p228:atrbtn authorId="{39660AAC-4507-D804-705C-EDDC53FE86F2}"/>
              <p228:anchr>
                <p228:comment id="{70D55E45-93FB-4568-B9A7-5B2A02044890}"/>
              </p228:anchr>
              <p228:asgn authorId="{39660AAC-4507-D804-705C-EDDC53FE86F2}"/>
            </p228:event>
            <p228:event time="2026-06-27T14:37:23.609" id="{CE808ECF-1879-4B9D-8059-B710A3466FAB}">
              <p228:atrbtn authorId="{39660AAC-4507-D804-705C-EDDC53FE86F2}"/>
              <p228:anchr>
                <p228:comment id="{70D55E45-93FB-4568-B9A7-5B2A02044890}"/>
              </p228:anchr>
              <p228:title val="@Omkar Kushwaha Add the robocall budget for 40% cap and cost card"/>
            </p228:event>
            <p228:event time="2026-06-27T14:37:23.609" id="{B2879249-CA76-44CB-9285-E26942C8B12E}">
              <p228:atrbtn authorId="{39660AAC-4507-D804-705C-EDDC53FE86F2}"/>
              <p228:anchr>
                <p228:comment id="{70D55E45-93FB-4568-B9A7-5B2A02044890}"/>
              </p228:anchr>
              <p228:date stDt="2026-06-27T14:37:23.609" endDt="2026-06-27T14:37:23.609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67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38470-5518-A9D3-846E-0FDFA102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D9BB4-A4A1-DF2A-8776-BA0112575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B335F-6F9C-F82F-56DF-70907C5BC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E76F-C5A4-C194-9342-BADDD6CBF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9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0D42-0B96-C3AD-21EF-18B4B291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6879C-E2A7-ECBF-9B33-246669BA2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0BBD2-C6A9-19CD-B8A6-E8D05DE7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4F501-C5DF-0B4E-9A57-49BC18431DBE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1B250-DBF7-0168-65E4-1D826C2C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D630A-10F2-B161-99F0-AF74ECFA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225B-1969-3A4A-AF8D-0A35C6C6F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2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1824-50D3-5D47-DF3E-FD3477D0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7CF8-7E34-8C62-8D0C-5502B04F7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48825-9BBB-FE00-47BE-ADEB8810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4F501-C5DF-0B4E-9A57-49BC18431DBE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F8B4-6E0A-23FA-3A59-F5EE7301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B4AC-051A-EDFE-2EBC-9C90B930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2225B-1969-3A4A-AF8D-0A35C6C6F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9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9A29745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C31C40A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931920"/>
          </a:xfrm>
          <a:prstGeom prst="ellipse">
            <a:avLst/>
          </a:prstGeom>
          <a:solidFill>
            <a:srgbClr val="0B3A8B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2651760" cy="2651760"/>
          </a:xfrm>
          <a:prstGeom prst="ellipse">
            <a:avLst/>
          </a:prstGeom>
          <a:solidFill>
            <a:srgbClr val="1D4ED8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246888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00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560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83280" y="4937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48640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Last Mile</a:t>
            </a:r>
            <a:endParaRPr lang="en-US" sz="4400"/>
          </a:p>
        </p:txBody>
      </p:sp>
      <p:sp>
        <p:nvSpPr>
          <p:cNvPr id="12" name="Text 10"/>
          <p:cNvSpPr/>
          <p:nvPr/>
        </p:nvSpPr>
        <p:spPr>
          <a:xfrm>
            <a:off x="54864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R3 Accuracy Gap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54864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 Hackathon  |  Provider Data Accuracy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6949440" y="384048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132320" y="42976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Omkar Kushwaha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Kalyan K.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Kushal Gupta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86400" y="4480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6492240" y="4626864"/>
            <a:ext cx="118872" cy="1188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5577840"/>
            <a:ext cx="594360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R3 Accuracy Gap — Problem Space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R3 is right ~75% of the time. The remaining ~25% is where the value sits.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2299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R3 Accuracy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Calling-QC ground truth across all attributes.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712110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2293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3550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2803550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Records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849270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says one thing; the phone call says another. This is the gap.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012741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2356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04181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5104181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Validates R3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49901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QC agrees with R3 — the internet is fooled the same way R3 is.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7313371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24190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4811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1–1.5%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7404811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Improvement Cap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450531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claims-data attempts only moved the needle by this much.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9614002" y="1097280"/>
            <a:ext cx="2136038" cy="2240280"/>
          </a:xfrm>
          <a:prstGeom prst="roundRect">
            <a:avLst>
              <a:gd name="adj" fmla="val 4281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224821" y="128016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05442" y="1371600"/>
            <a:ext cx="19531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9705442" y="2286000"/>
            <a:ext cx="19531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Cost Asymmetry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51162" y="2724912"/>
            <a:ext cx="18617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($0.50/success) vs an R3 call ($0.035) — costs add up fast.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611880"/>
            <a:ext cx="11338560" cy="411480"/>
          </a:xfrm>
          <a:prstGeom prst="roundRect">
            <a:avLst>
              <a:gd name="adj" fmla="val 13333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61188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1,973 conclusive records in our hackathon dataset (520 inconclusive on either side excluded):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868680" y="42519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1560" y="44348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</a:t>
            </a:r>
            <a:endParaRPr lang="en-US" sz="5600"/>
          </a:p>
        </p:txBody>
      </p:sp>
      <p:sp>
        <p:nvSpPr>
          <p:cNvPr id="35" name="Text 33"/>
          <p:cNvSpPr/>
          <p:nvPr/>
        </p:nvSpPr>
        <p:spPr>
          <a:xfrm>
            <a:off x="297180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Was Right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2971800" y="5120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1,232 records  |  R3 verdict matched Calling-QC ground truth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263640" y="42519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44348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5600"/>
          </a:p>
        </p:txBody>
      </p:sp>
      <p:sp>
        <p:nvSpPr>
          <p:cNvPr id="39" name="Text 37"/>
          <p:cNvSpPr/>
          <p:nvPr/>
        </p:nvSpPr>
        <p:spPr>
          <a:xfrm>
            <a:off x="836676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Disagreed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8366760" y="5120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 records  |  R3 verdict differed from Calling-QC — our target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2" name="Shape 40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AAC6-9D5C-3C21-433F-B33DBDC7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9E6ED3-7419-ECE6-ECA7-4426877A1C5A}"/>
              </a:ext>
            </a:extLst>
          </p:cNvPr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2F1DEF-2773-CFBA-34B0-EF02D32E0C8B}"/>
              </a:ext>
            </a:extLst>
          </p:cNvPr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922E10-A1BA-1765-945D-43CEE2A05F64}"/>
              </a:ext>
            </a:extLst>
          </p:cNvPr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 Five-Stage Validation Pipeline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497377-6975-A5FE-B117-4D6AC4783424}"/>
              </a:ext>
            </a:extLst>
          </p:cNvPr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provider records to a final verdict — rules first, ML second, robocall last.</a:t>
            </a:r>
            <a:endParaRPr lang="en-US"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7BBDFF-6768-4EB8-71CC-4A3032F7CDB9}"/>
              </a:ext>
            </a:extLst>
          </p:cNvPr>
          <p:cNvSpPr/>
          <p:nvPr/>
        </p:nvSpPr>
        <p:spPr>
          <a:xfrm>
            <a:off x="518160" y="2506667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08F4DF-53C6-77F7-46AA-BDC2D65A4F0C}"/>
              </a:ext>
            </a:extLst>
          </p:cNvPr>
          <p:cNvSpPr/>
          <p:nvPr/>
        </p:nvSpPr>
        <p:spPr>
          <a:xfrm>
            <a:off x="609600" y="26438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1FACD0-4DC8-04D0-E875-8EB58E11E5D1}"/>
              </a:ext>
            </a:extLst>
          </p:cNvPr>
          <p:cNvSpPr/>
          <p:nvPr/>
        </p:nvSpPr>
        <p:spPr>
          <a:xfrm>
            <a:off x="609600" y="291814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76511B-E244-7CB7-0496-2ECA9F7F0E39}"/>
              </a:ext>
            </a:extLst>
          </p:cNvPr>
          <p:cNvSpPr/>
          <p:nvPr/>
        </p:nvSpPr>
        <p:spPr>
          <a:xfrm>
            <a:off x="609600" y="34210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R3 evidence, claims</a:t>
            </a:r>
            <a:endParaRPr lang="en-US"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7510F7-D5D3-D911-4620-CE3B8D557200}"/>
              </a:ext>
            </a:extLst>
          </p:cNvPr>
          <p:cNvSpPr/>
          <p:nvPr/>
        </p:nvSpPr>
        <p:spPr>
          <a:xfrm>
            <a:off x="2548128" y="3073595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824DF1-3254-8544-BD18-37EBF28195F0}"/>
              </a:ext>
            </a:extLst>
          </p:cNvPr>
          <p:cNvSpPr/>
          <p:nvPr/>
        </p:nvSpPr>
        <p:spPr>
          <a:xfrm>
            <a:off x="2804160" y="2506667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3BFA3E-950C-93B6-A2C5-4F1E23F03AA1}"/>
              </a:ext>
            </a:extLst>
          </p:cNvPr>
          <p:cNvSpPr/>
          <p:nvPr/>
        </p:nvSpPr>
        <p:spPr>
          <a:xfrm>
            <a:off x="2895600" y="26438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D921FEB-A3C1-DAF8-2FB6-9ABC3B66595B}"/>
              </a:ext>
            </a:extLst>
          </p:cNvPr>
          <p:cNvSpPr/>
          <p:nvPr/>
        </p:nvSpPr>
        <p:spPr>
          <a:xfrm>
            <a:off x="2895600" y="291814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226ACF-C72C-7C44-8477-5BF5E2EFC0A6}"/>
              </a:ext>
            </a:extLst>
          </p:cNvPr>
          <p:cNvSpPr/>
          <p:nvPr/>
        </p:nvSpPr>
        <p:spPr>
          <a:xfrm>
            <a:off x="2895600" y="34210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 in 4 groups</a:t>
            </a:r>
            <a:endParaRPr lang="en-US" sz="10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395A52E-C006-DA2B-7B2B-8E6B976D3830}"/>
              </a:ext>
            </a:extLst>
          </p:cNvPr>
          <p:cNvSpPr/>
          <p:nvPr/>
        </p:nvSpPr>
        <p:spPr>
          <a:xfrm>
            <a:off x="4834128" y="3073595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EE0D3CD-1F02-20CE-64A9-FDFA198C39C4}"/>
              </a:ext>
            </a:extLst>
          </p:cNvPr>
          <p:cNvSpPr/>
          <p:nvPr/>
        </p:nvSpPr>
        <p:spPr>
          <a:xfrm>
            <a:off x="5090160" y="2506667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90D2FB6-AD34-2BBB-6340-ECC589AB63D0}"/>
              </a:ext>
            </a:extLst>
          </p:cNvPr>
          <p:cNvSpPr/>
          <p:nvPr/>
        </p:nvSpPr>
        <p:spPr>
          <a:xfrm>
            <a:off x="5181600" y="26438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9FFC5E5-9EF8-654D-76A4-661EA9017EBC}"/>
              </a:ext>
            </a:extLst>
          </p:cNvPr>
          <p:cNvSpPr/>
          <p:nvPr/>
        </p:nvSpPr>
        <p:spPr>
          <a:xfrm>
            <a:off x="5181600" y="291814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Models</a:t>
            </a:r>
            <a:endParaRPr lang="en-US"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AB0FF9-9444-7085-E167-3BB62AA6AD9E}"/>
              </a:ext>
            </a:extLst>
          </p:cNvPr>
          <p:cNvSpPr/>
          <p:nvPr/>
        </p:nvSpPr>
        <p:spPr>
          <a:xfrm>
            <a:off x="5181600" y="34210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+ Conclusivity</a:t>
            </a:r>
            <a:endParaRPr lang="en-US" sz="1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FD792DB-A838-550E-BB6B-F0C5BA20270C}"/>
              </a:ext>
            </a:extLst>
          </p:cNvPr>
          <p:cNvSpPr/>
          <p:nvPr/>
        </p:nvSpPr>
        <p:spPr>
          <a:xfrm>
            <a:off x="7120128" y="3073595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B0B97F4-ED8D-0311-FD97-98511872E0B1}"/>
              </a:ext>
            </a:extLst>
          </p:cNvPr>
          <p:cNvSpPr/>
          <p:nvPr/>
        </p:nvSpPr>
        <p:spPr>
          <a:xfrm>
            <a:off x="7376160" y="2506667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614BC76-75A6-827A-96BC-B91A14B2A3CC}"/>
              </a:ext>
            </a:extLst>
          </p:cNvPr>
          <p:cNvSpPr/>
          <p:nvPr/>
        </p:nvSpPr>
        <p:spPr>
          <a:xfrm>
            <a:off x="7467600" y="26438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B47FA2C-BD09-A6EC-5A48-D5893C3266FE}"/>
              </a:ext>
            </a:extLst>
          </p:cNvPr>
          <p:cNvSpPr/>
          <p:nvPr/>
        </p:nvSpPr>
        <p:spPr>
          <a:xfrm>
            <a:off x="7467600" y="291814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B3F67C-63D3-A9DB-AFB6-27B0AC0129BD}"/>
              </a:ext>
            </a:extLst>
          </p:cNvPr>
          <p:cNvSpPr/>
          <p:nvPr/>
        </p:nvSpPr>
        <p:spPr>
          <a:xfrm>
            <a:off x="7467600" y="34210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thresholds + triage</a:t>
            </a:r>
            <a:endParaRPr lang="en-US" sz="10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0A92A41-67F2-4597-2A5E-9DF0C0CB8DD4}"/>
              </a:ext>
            </a:extLst>
          </p:cNvPr>
          <p:cNvSpPr/>
          <p:nvPr/>
        </p:nvSpPr>
        <p:spPr>
          <a:xfrm>
            <a:off x="9406128" y="3073595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A794239-D7F9-EE11-9E76-9A3FE25F0521}"/>
              </a:ext>
            </a:extLst>
          </p:cNvPr>
          <p:cNvSpPr/>
          <p:nvPr/>
        </p:nvSpPr>
        <p:spPr>
          <a:xfrm>
            <a:off x="9662160" y="2506667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490B51A-A31B-CA14-F37D-A743E9B18288}"/>
              </a:ext>
            </a:extLst>
          </p:cNvPr>
          <p:cNvSpPr/>
          <p:nvPr/>
        </p:nvSpPr>
        <p:spPr>
          <a:xfrm>
            <a:off x="9753600" y="26438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B8D1919-35DB-DD3F-5C66-0D9548CBAA74}"/>
              </a:ext>
            </a:extLst>
          </p:cNvPr>
          <p:cNvSpPr/>
          <p:nvPr/>
        </p:nvSpPr>
        <p:spPr>
          <a:xfrm>
            <a:off x="9753600" y="2918147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2CDFF7E-EB2A-4D8D-27DA-5B0E46FA745B}"/>
              </a:ext>
            </a:extLst>
          </p:cNvPr>
          <p:cNvSpPr/>
          <p:nvPr/>
        </p:nvSpPr>
        <p:spPr>
          <a:xfrm>
            <a:off x="9753600" y="342106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queue, evidence trail</a:t>
            </a:r>
            <a:endParaRPr lang="en-US" sz="10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4600CEE-17DD-8122-559F-74DA42EC2630}"/>
              </a:ext>
            </a:extLst>
          </p:cNvPr>
          <p:cNvSpPr/>
          <p:nvPr/>
        </p:nvSpPr>
        <p:spPr>
          <a:xfrm>
            <a:off x="518160" y="4198307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BCCFBC2-ECF4-2113-832F-5D2EDBF71019}"/>
              </a:ext>
            </a:extLst>
          </p:cNvPr>
          <p:cNvSpPr/>
          <p:nvPr/>
        </p:nvSpPr>
        <p:spPr>
          <a:xfrm>
            <a:off x="518160" y="4198307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(Discovery)  ·  Track 2 (Signal Engineering)  ·  Track 3 (Robocall Triage)</a:t>
            </a:r>
            <a:endParaRPr lang="en-US" sz="14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AD0C3F8-4F03-11FB-BC84-E9230D1CD13E}"/>
              </a:ext>
            </a:extLst>
          </p:cNvPr>
          <p:cNvSpPr/>
          <p:nvPr/>
        </p:nvSpPr>
        <p:spPr>
          <a:xfrm>
            <a:off x="-3092885" y="4746947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b="1">
              <a:solidFill>
                <a:srgbClr val="16A34A"/>
              </a:solidFill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F293A72-5674-9C6C-5E7C-472CD09E98B2}"/>
              </a:ext>
            </a:extLst>
          </p:cNvPr>
          <p:cNvSpPr/>
          <p:nvPr/>
        </p:nvSpPr>
        <p:spPr>
          <a:xfrm>
            <a:off x="-3001445" y="5569907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>
              <a:solidFill>
                <a:srgbClr val="1F2937"/>
              </a:solidFill>
              <a:ea typeface="Calibri"/>
              <a:cs typeface="Calibri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7BB4AD5-11F6-A0BE-597E-F256AC1E1C0D}"/>
              </a:ext>
            </a:extLst>
          </p:cNvPr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4D1F16E-9B8F-BE72-9D68-E2EE5D3AC5D9}"/>
              </a:ext>
            </a:extLst>
          </p:cNvPr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5029078-0D13-975F-1615-68DA7C29C4C1}"/>
              </a:ext>
            </a:extLst>
          </p:cNvPr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864080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500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why, and how often R3 fails — straight from the data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#1 — Where R3 and the phone diverge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The confusion matrix vs Calling-QC ground truth: agreement sits on the diagonal, the gap sits off it.</a:t>
            </a:r>
          </a:p>
        </p:txBody>
      </p:sp>
      <p:sp>
        <p:nvSpPr>
          <p:cNvPr id="100" name="ChartCard"/>
          <p:cNvSpPr/>
          <p:nvPr/>
        </p:nvSpPr>
        <p:spPr>
          <a:xfrm>
            <a:off x="584307" y="987552"/>
            <a:ext cx="6375186" cy="5202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35" y="1097280"/>
            <a:ext cx="6155730" cy="4983480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736092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761695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761695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465</a:t>
            </a:r>
          </a:p>
        </p:txBody>
      </p:sp>
      <p:sp>
        <p:nvSpPr>
          <p:cNvPr id="105" name="StatLbl"/>
          <p:cNvSpPr/>
          <p:nvPr/>
        </p:nvSpPr>
        <p:spPr>
          <a:xfrm>
            <a:off x="761695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records R3 removed that the phone says are ACCURATE (false removals)</a:t>
            </a:r>
          </a:p>
        </p:txBody>
      </p:sp>
      <p:sp>
        <p:nvSpPr>
          <p:cNvPr id="106" name="Stat"/>
          <p:cNvSpPr/>
          <p:nvPr/>
        </p:nvSpPr>
        <p:spPr>
          <a:xfrm>
            <a:off x="761695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97706"/>
                </a:solidFill>
                <a:latin typeface="Calibri" pitchFamily="34" charset="0"/>
              </a:rPr>
              <a:t xml:space="preserve">276</a:t>
            </a:r>
          </a:p>
        </p:txBody>
      </p:sp>
      <p:sp>
        <p:nvSpPr>
          <p:cNvPr id="107" name="StatLbl"/>
          <p:cNvSpPr/>
          <p:nvPr/>
        </p:nvSpPr>
        <p:spPr>
          <a:xfrm>
            <a:off x="761695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records R3 kept that the phone says are INACCURATE (missed-bad)</a:t>
            </a:r>
          </a:p>
        </p:txBody>
      </p:sp>
      <p:sp>
        <p:nvSpPr>
          <p:cNvPr id="108" name="NoteBar"/>
          <p:cNvSpPr/>
          <p:nvPr/>
        </p:nvSpPr>
        <p:spPr>
          <a:xfrm>
            <a:off x="756208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66267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741 of 1,973 conclusive records disagree — this is our target.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#2 — R3's “keep” calls are the weak spot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When R3 says ACCURATE it is right far less often than when it says INACCURATE.</a:t>
            </a:r>
          </a:p>
        </p:txBody>
      </p:sp>
      <p:sp>
        <p:nvSpPr>
          <p:cNvPr id="100" name="ChartCard"/>
          <p:cNvSpPr/>
          <p:nvPr/>
        </p:nvSpPr>
        <p:spPr>
          <a:xfrm>
            <a:off x="4873752" y="1192616"/>
            <a:ext cx="6940296" cy="479280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02344"/>
            <a:ext cx="6720840" cy="4573353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41148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66751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66751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38.7%</a:t>
            </a:r>
          </a:p>
        </p:txBody>
      </p:sp>
      <p:sp>
        <p:nvSpPr>
          <p:cNvPr id="105" name="StatLbl"/>
          <p:cNvSpPr/>
          <p:nvPr/>
        </p:nvSpPr>
        <p:spPr>
          <a:xfrm>
            <a:off x="66751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R3 correct when it says ACCURATE / keep  (n=450)</a:t>
            </a:r>
          </a:p>
        </p:txBody>
      </p:sp>
      <p:sp>
        <p:nvSpPr>
          <p:cNvPr id="106" name="Stat"/>
          <p:cNvSpPr/>
          <p:nvPr/>
        </p:nvSpPr>
        <p:spPr>
          <a:xfrm>
            <a:off x="66751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69.5%</a:t>
            </a:r>
          </a:p>
        </p:txBody>
      </p:sp>
      <p:sp>
        <p:nvSpPr>
          <p:cNvPr id="107" name="StatLbl"/>
          <p:cNvSpPr/>
          <p:nvPr/>
        </p:nvSpPr>
        <p:spPr>
          <a:xfrm>
            <a:off x="66751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R3 correct when it says INACCURATE / remove  (n=1,523)</a:t>
            </a:r>
          </a:p>
        </p:txBody>
      </p:sp>
      <p:sp>
        <p:nvSpPr>
          <p:cNvPr id="108" name="NoteBar"/>
          <p:cNvSpPr/>
          <p:nvPr/>
        </p:nvSpPr>
        <p:spPr>
          <a:xfrm>
            <a:off x="61264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1323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R3's removals are trustworthy; its keeps are not.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#3 — Higher web-confidence, lower accuracy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R3's confidence score inverts at the top end: the loudest web evidence is the least reliable.</a:t>
            </a:r>
          </a:p>
        </p:txBody>
      </p:sp>
      <p:sp>
        <p:nvSpPr>
          <p:cNvPr id="100" name="ChartCard"/>
          <p:cNvSpPr/>
          <p:nvPr/>
        </p:nvSpPr>
        <p:spPr>
          <a:xfrm>
            <a:off x="301752" y="1445354"/>
            <a:ext cx="6940296" cy="428733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5082"/>
            <a:ext cx="6720840" cy="4067877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736092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761695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761695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43%</a:t>
            </a:r>
          </a:p>
        </p:txBody>
      </p:sp>
      <p:sp>
        <p:nvSpPr>
          <p:cNvPr id="105" name="StatLbl"/>
          <p:cNvSpPr/>
          <p:nvPr/>
        </p:nvSpPr>
        <p:spPr>
          <a:xfrm>
            <a:off x="761695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 at web-confidence score = 100  (n=109)</a:t>
            </a:r>
          </a:p>
        </p:txBody>
      </p:sp>
      <p:sp>
        <p:nvSpPr>
          <p:cNvPr id="106" name="Stat"/>
          <p:cNvSpPr/>
          <p:nvPr/>
        </p:nvSpPr>
        <p:spPr>
          <a:xfrm>
            <a:off x="761695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74%</a:t>
            </a:r>
          </a:p>
        </p:txBody>
      </p:sp>
      <p:sp>
        <p:nvSpPr>
          <p:cNvPr id="107" name="StatLbl"/>
          <p:cNvSpPr/>
          <p:nvPr/>
        </p:nvSpPr>
        <p:spPr>
          <a:xfrm>
            <a:off x="761695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 at web-confidence score ≤ 0  (n=1,122)</a:t>
            </a:r>
          </a:p>
        </p:txBody>
      </p:sp>
      <p:sp>
        <p:nvSpPr>
          <p:cNvPr id="108" name="NoteBar"/>
          <p:cNvSpPr/>
          <p:nvPr/>
        </p:nvSpPr>
        <p:spPr>
          <a:xfrm>
            <a:off x="756208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66267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We cannot trust R3's score alone — we need an external signal.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#4 — Three states drive the accuracy gap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R3 agreement collapses in AL, MI and NJ, far below the &gt;88% seen in the best states.</a:t>
            </a:r>
          </a:p>
        </p:txBody>
      </p:sp>
      <p:sp>
        <p:nvSpPr>
          <p:cNvPr id="100" name="ChartCard"/>
          <p:cNvSpPr/>
          <p:nvPr/>
        </p:nvSpPr>
        <p:spPr>
          <a:xfrm>
            <a:off x="5742432" y="987552"/>
            <a:ext cx="5202936" cy="5202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97280"/>
            <a:ext cx="4983480" cy="4983480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41148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66751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66751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6%</a:t>
            </a:r>
          </a:p>
        </p:txBody>
      </p:sp>
      <p:sp>
        <p:nvSpPr>
          <p:cNvPr id="105" name="StatLbl"/>
          <p:cNvSpPr/>
          <p:nvPr/>
        </p:nvSpPr>
        <p:spPr>
          <a:xfrm>
            <a:off x="66751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R3 agrees with phone in AL  (n=100)</a:t>
            </a:r>
          </a:p>
        </p:txBody>
      </p:sp>
      <p:sp>
        <p:nvSpPr>
          <p:cNvPr id="106" name="Stat"/>
          <p:cNvSpPr/>
          <p:nvPr/>
        </p:nvSpPr>
        <p:spPr>
          <a:xfrm>
            <a:off x="66751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25%</a:t>
            </a:r>
          </a:p>
        </p:txBody>
      </p:sp>
      <p:sp>
        <p:nvSpPr>
          <p:cNvPr id="107" name="StatLbl"/>
          <p:cNvSpPr/>
          <p:nvPr/>
        </p:nvSpPr>
        <p:spPr>
          <a:xfrm>
            <a:off x="66751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MI  (n=203)</a:t>
            </a:r>
          </a:p>
        </p:txBody>
      </p:sp>
      <p:sp>
        <p:nvSpPr>
          <p:cNvPr id="108" name="Stat"/>
          <p:cNvSpPr/>
          <p:nvPr/>
        </p:nvSpPr>
        <p:spPr>
          <a:xfrm>
            <a:off x="667512" y="4215384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97706"/>
                </a:solidFill>
                <a:latin typeface="Calibri" pitchFamily="34" charset="0"/>
              </a:rPr>
              <a:t xml:space="preserve">31%</a:t>
            </a:r>
          </a:p>
        </p:txBody>
      </p:sp>
      <p:sp>
        <p:nvSpPr>
          <p:cNvPr id="109" name="StatLbl"/>
          <p:cNvSpPr/>
          <p:nvPr/>
        </p:nvSpPr>
        <p:spPr>
          <a:xfrm>
            <a:off x="667512" y="4764024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NJ  (n=155)</a:t>
            </a:r>
          </a:p>
        </p:txBody>
      </p:sp>
      <p:sp>
        <p:nvSpPr>
          <p:cNvPr id="110" name="NoteBar"/>
          <p:cNvSpPr/>
          <p:nvPr/>
        </p:nvSpPr>
        <p:spPr>
          <a:xfrm>
            <a:off x="61264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Note"/>
          <p:cNvSpPr/>
          <p:nvPr/>
        </p:nvSpPr>
        <p:spPr>
          <a:xfrm>
            <a:off x="71323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→ feature: feat_state_high_risk = 1 if state ∈ {AL, MI, NJ}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#5 — Hospital-affiliated specialties fail worst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Specialties that rotate across sites break web validation — agreement falls to single digits.</a:t>
            </a:r>
          </a:p>
        </p:txBody>
      </p:sp>
      <p:sp>
        <p:nvSpPr>
          <p:cNvPr id="100" name="ChartCard"/>
          <p:cNvSpPr/>
          <p:nvPr/>
        </p:nvSpPr>
        <p:spPr>
          <a:xfrm>
            <a:off x="444682" y="987552"/>
            <a:ext cx="6654435" cy="5202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0" y="1097280"/>
            <a:ext cx="6434979" cy="4983480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736092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761695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761695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2%</a:t>
            </a:r>
          </a:p>
        </p:txBody>
      </p:sp>
      <p:sp>
        <p:nvSpPr>
          <p:cNvPr id="105" name="StatLbl"/>
          <p:cNvSpPr/>
          <p:nvPr/>
        </p:nvSpPr>
        <p:spPr>
          <a:xfrm>
            <a:off x="761695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Pediatrics  (n=43)</a:t>
            </a:r>
          </a:p>
        </p:txBody>
      </p:sp>
      <p:sp>
        <p:nvSpPr>
          <p:cNvPr id="106" name="Stat"/>
          <p:cNvSpPr/>
          <p:nvPr/>
        </p:nvSpPr>
        <p:spPr>
          <a:xfrm>
            <a:off x="761695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3%</a:t>
            </a:r>
          </a:p>
        </p:txBody>
      </p:sp>
      <p:sp>
        <p:nvSpPr>
          <p:cNvPr id="107" name="StatLbl"/>
          <p:cNvSpPr/>
          <p:nvPr/>
        </p:nvSpPr>
        <p:spPr>
          <a:xfrm>
            <a:off x="761695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Cardiology / OB-GYN  (n=33 / 31)</a:t>
            </a:r>
          </a:p>
        </p:txBody>
      </p:sp>
      <p:sp>
        <p:nvSpPr>
          <p:cNvPr id="108" name="Stat"/>
          <p:cNvSpPr/>
          <p:nvPr/>
        </p:nvSpPr>
        <p:spPr>
          <a:xfrm>
            <a:off x="7616952" y="4215384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5%</a:t>
            </a:r>
          </a:p>
        </p:txBody>
      </p:sp>
      <p:sp>
        <p:nvSpPr>
          <p:cNvPr id="109" name="StatLbl"/>
          <p:cNvSpPr/>
          <p:nvPr/>
        </p:nvSpPr>
        <p:spPr>
          <a:xfrm>
            <a:off x="7616952" y="4764024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Internal Medicine  (n=64)</a:t>
            </a:r>
          </a:p>
        </p:txBody>
      </p:sp>
      <p:sp>
        <p:nvSpPr>
          <p:cNvPr id="110" name="NoteBar"/>
          <p:cNvSpPr/>
          <p:nvPr/>
        </p:nvSpPr>
        <p:spPr>
          <a:xfrm>
            <a:off x="756208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Note"/>
          <p:cNvSpPr/>
          <p:nvPr/>
        </p:nvSpPr>
        <p:spPr>
          <a:xfrm>
            <a:off x="766267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→ feature: is_hospital_affiliated_specialty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#6 — Claims presence nearly doubles reliability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Any active billing activity makes R3 far more likely to agree with the phone.</a:t>
            </a:r>
          </a:p>
        </p:txBody>
      </p:sp>
      <p:sp>
        <p:nvSpPr>
          <p:cNvPr id="100" name="ChartCard"/>
          <p:cNvSpPr/>
          <p:nvPr/>
        </p:nvSpPr>
        <p:spPr>
          <a:xfrm>
            <a:off x="4873752" y="1186802"/>
            <a:ext cx="6940296" cy="48044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96530"/>
            <a:ext cx="6720840" cy="4584980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41148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66751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66751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74.0%</a:t>
            </a:r>
          </a:p>
        </p:txBody>
      </p:sp>
      <p:sp>
        <p:nvSpPr>
          <p:cNvPr id="105" name="StatLbl"/>
          <p:cNvSpPr/>
          <p:nvPr/>
        </p:nvSpPr>
        <p:spPr>
          <a:xfrm>
            <a:off x="66751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R3 correct when the provider has claims  (n=1,330)</a:t>
            </a:r>
          </a:p>
        </p:txBody>
      </p:sp>
      <p:sp>
        <p:nvSpPr>
          <p:cNvPr id="106" name="Stat"/>
          <p:cNvSpPr/>
          <p:nvPr/>
        </p:nvSpPr>
        <p:spPr>
          <a:xfrm>
            <a:off x="66751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38.6%</a:t>
            </a:r>
          </a:p>
        </p:txBody>
      </p:sp>
      <p:sp>
        <p:nvSpPr>
          <p:cNvPr id="107" name="StatLbl"/>
          <p:cNvSpPr/>
          <p:nvPr/>
        </p:nvSpPr>
        <p:spPr>
          <a:xfrm>
            <a:off x="66751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R3 correct with no claims activity  (n=643)</a:t>
            </a:r>
          </a:p>
        </p:txBody>
      </p:sp>
      <p:sp>
        <p:nvSpPr>
          <p:cNvPr id="108" name="NoteBar"/>
          <p:cNvSpPr/>
          <p:nvPr/>
        </p:nvSpPr>
        <p:spPr>
          <a:xfrm>
            <a:off x="61264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1323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Claims presence is the cheapest passive signal we have.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#7 — R3 over-removes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Decomposing the 741 errors: R3 is biased toward deleting records rather than keeping them.</a:t>
            </a:r>
          </a:p>
        </p:txBody>
      </p:sp>
      <p:sp>
        <p:nvSpPr>
          <p:cNvPr id="100" name="ChartCard"/>
          <p:cNvSpPr/>
          <p:nvPr/>
        </p:nvSpPr>
        <p:spPr>
          <a:xfrm>
            <a:off x="301752" y="1422153"/>
            <a:ext cx="6940296" cy="43337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1881"/>
            <a:ext cx="6720840" cy="4114278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736092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761695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761695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465</a:t>
            </a:r>
          </a:p>
        </p:txBody>
      </p:sp>
      <p:sp>
        <p:nvSpPr>
          <p:cNvPr id="105" name="StatLbl"/>
          <p:cNvSpPr/>
          <p:nvPr/>
        </p:nvSpPr>
        <p:spPr>
          <a:xfrm>
            <a:off x="761695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false removals (R3 removed, phone keeps)</a:t>
            </a:r>
          </a:p>
        </p:txBody>
      </p:sp>
      <p:sp>
        <p:nvSpPr>
          <p:cNvPr id="106" name="Stat"/>
          <p:cNvSpPr/>
          <p:nvPr/>
        </p:nvSpPr>
        <p:spPr>
          <a:xfrm>
            <a:off x="761695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97706"/>
                </a:solidFill>
                <a:latin typeface="Calibri" pitchFamily="34" charset="0"/>
              </a:rPr>
              <a:t xml:space="preserve">276</a:t>
            </a:r>
          </a:p>
        </p:txBody>
      </p:sp>
      <p:sp>
        <p:nvSpPr>
          <p:cNvPr id="107" name="StatLbl"/>
          <p:cNvSpPr/>
          <p:nvPr/>
        </p:nvSpPr>
        <p:spPr>
          <a:xfrm>
            <a:off x="761695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missed-bad (R3 kept, phone removes)</a:t>
            </a:r>
          </a:p>
        </p:txBody>
      </p:sp>
      <p:sp>
        <p:nvSpPr>
          <p:cNvPr id="108" name="NoteBar"/>
          <p:cNvSpPr/>
          <p:nvPr/>
        </p:nvSpPr>
        <p:spPr>
          <a:xfrm>
            <a:off x="756208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66267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The correction strategy must protect valid records first.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#8 — Recent claims signal a fresh address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Records with recent billing stay well above the ~62% baseline, motivating a staleness score.</a:t>
            </a:r>
          </a:p>
        </p:txBody>
      </p:sp>
      <p:sp>
        <p:nvSpPr>
          <p:cNvPr id="100" name="ChartCard"/>
          <p:cNvSpPr/>
          <p:nvPr/>
        </p:nvSpPr>
        <p:spPr>
          <a:xfrm>
            <a:off x="4873752" y="1445354"/>
            <a:ext cx="6940296" cy="428733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5082"/>
            <a:ext cx="6720840" cy="4067877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41148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66751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66751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73%</a:t>
            </a:r>
          </a:p>
        </p:txBody>
      </p:sp>
      <p:sp>
        <p:nvSpPr>
          <p:cNvPr id="105" name="StatLbl"/>
          <p:cNvSpPr/>
          <p:nvPr/>
        </p:nvSpPr>
        <p:spPr>
          <a:xfrm>
            <a:off x="66751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 when last claim ≤ 90 days  (n=1,273)</a:t>
            </a:r>
          </a:p>
        </p:txBody>
      </p:sp>
      <p:sp>
        <p:nvSpPr>
          <p:cNvPr id="106" name="Stat"/>
          <p:cNvSpPr/>
          <p:nvPr/>
        </p:nvSpPr>
        <p:spPr>
          <a:xfrm>
            <a:off x="66751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88%</a:t>
            </a:r>
          </a:p>
        </p:txBody>
      </p:sp>
      <p:sp>
        <p:nvSpPr>
          <p:cNvPr id="107" name="StatLbl"/>
          <p:cNvSpPr/>
          <p:nvPr/>
        </p:nvSpPr>
        <p:spPr>
          <a:xfrm>
            <a:off x="66751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 at 91–180 days  (small n=57)</a:t>
            </a:r>
          </a:p>
        </p:txBody>
      </p:sp>
      <p:sp>
        <p:nvSpPr>
          <p:cNvPr id="108" name="NoteBar"/>
          <p:cNvSpPr/>
          <p:nvPr/>
        </p:nvSpPr>
        <p:spPr>
          <a:xfrm>
            <a:off x="61264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1323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→ days-since-claim staleness feature, anchored to the 2026-04-30 data pull.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</a:rPr>
              <a:t xml:space="preserve">EDA #9 — Triage map: where R3 is (un)trustworthy</a:t>
            </a:r>
          </a:p>
        </p:txBody>
      </p:sp>
      <p:sp>
        <p:nvSpPr>
          <p:cNvPr id="5" name="Subtitle"/>
          <p:cNvSpPr/>
          <p:nvPr/>
        </p:nvSpPr>
        <p:spPr>
          <a:xfrm>
            <a:off x="411480" y="502920"/>
            <a:ext cx="114300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</a:rPr>
              <a:t xml:space="preserve">Crossing web-confidence with claims presence isolates the confidently-wrong danger zone.</a:t>
            </a:r>
          </a:p>
        </p:txBody>
      </p:sp>
      <p:sp>
        <p:nvSpPr>
          <p:cNvPr id="100" name="ChartCard"/>
          <p:cNvSpPr/>
          <p:nvPr/>
        </p:nvSpPr>
        <p:spPr>
          <a:xfrm>
            <a:off x="328502" y="987552"/>
            <a:ext cx="6886795" cy="5202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30" y="1097280"/>
            <a:ext cx="6667339" cy="4983480"/>
          </a:xfrm>
          <a:prstGeom prst="rect">
            <a:avLst/>
          </a:prstGeom>
        </p:spPr>
      </p:pic>
      <p:sp>
        <p:nvSpPr>
          <p:cNvPr id="102" name="Panel"/>
          <p:cNvSpPr/>
          <p:nvPr/>
        </p:nvSpPr>
        <p:spPr>
          <a:xfrm>
            <a:off x="7360920" y="1097280"/>
            <a:ext cx="4389120" cy="498348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PanelHead"/>
          <p:cNvSpPr/>
          <p:nvPr/>
        </p:nvSpPr>
        <p:spPr>
          <a:xfrm>
            <a:off x="7616952" y="1371600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01E4C"/>
                </a:solidFill>
                <a:latin typeface="Calibri" pitchFamily="34" charset="0"/>
              </a:rPr>
              <a:t xml:space="preserve">WHAT THE DATA SHOWS</a:t>
            </a:r>
          </a:p>
        </p:txBody>
      </p:sp>
      <p:sp>
        <p:nvSpPr>
          <p:cNvPr id="104" name="Stat"/>
          <p:cNvSpPr/>
          <p:nvPr/>
        </p:nvSpPr>
        <p:spPr>
          <a:xfrm>
            <a:off x="7616952" y="187452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DC2626"/>
                </a:solidFill>
                <a:latin typeface="Calibri" pitchFamily="34" charset="0"/>
              </a:rPr>
              <a:t xml:space="preserve">18%</a:t>
            </a:r>
          </a:p>
        </p:txBody>
      </p:sp>
      <p:sp>
        <p:nvSpPr>
          <p:cNvPr id="105" name="StatLbl"/>
          <p:cNvSpPr/>
          <p:nvPr/>
        </p:nvSpPr>
        <p:spPr>
          <a:xfrm>
            <a:off x="7616952" y="2423160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correct: high confidence + no claims  (n=224) — call these first</a:t>
            </a:r>
          </a:p>
        </p:txBody>
      </p:sp>
      <p:sp>
        <p:nvSpPr>
          <p:cNvPr id="106" name="Stat"/>
          <p:cNvSpPr/>
          <p:nvPr/>
        </p:nvSpPr>
        <p:spPr>
          <a:xfrm>
            <a:off x="7616952" y="304495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6A34A"/>
                </a:solidFill>
                <a:latin typeface="Calibri" pitchFamily="34" charset="0"/>
              </a:rPr>
              <a:t xml:space="preserve">80%</a:t>
            </a:r>
          </a:p>
        </p:txBody>
      </p:sp>
      <p:sp>
        <p:nvSpPr>
          <p:cNvPr id="107" name="StatLbl"/>
          <p:cNvSpPr/>
          <p:nvPr/>
        </p:nvSpPr>
        <p:spPr>
          <a:xfrm>
            <a:off x="7616952" y="3593592"/>
            <a:ext cx="387705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F2937"/>
                </a:solidFill>
                <a:latin typeface="Calibri" pitchFamily="34" charset="0"/>
              </a:rPr>
              <a:t xml:space="preserve">correct: low confidence + has claims  (n=832)</a:t>
            </a:r>
          </a:p>
        </p:txBody>
      </p:sp>
      <p:sp>
        <p:nvSpPr>
          <p:cNvPr id="108" name="NoteBar"/>
          <p:cNvSpPr/>
          <p:nvPr/>
        </p:nvSpPr>
        <p:spPr>
          <a:xfrm>
            <a:off x="7562088" y="5120640"/>
            <a:ext cx="3986784" cy="7315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ote"/>
          <p:cNvSpPr/>
          <p:nvPr/>
        </p:nvSpPr>
        <p:spPr>
          <a:xfrm>
            <a:off x="7662672" y="521208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B3A8B"/>
                </a:solidFill>
                <a:latin typeface="Calibri" pitchFamily="34" charset="0"/>
              </a:rPr>
              <a:t xml:space="preserve">→ bridges to Track 3 robocall triage.</a:t>
            </a:r>
          </a:p>
        </p:txBody>
      </p:sp>
      <p:sp>
        <p:nvSpPr>
          <p:cNvPr id="90" name="Foot L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1E4C"/>
                </a:solidFill>
                <a:latin typeface="Calibri" pitchFamily="34" charset="0"/>
              </a:rPr>
              <a:t>HiLabs</a:t>
            </a:r>
          </a:p>
        </p:txBody>
      </p:sp>
      <p:sp>
        <p:nvSpPr>
          <p:cNvPr id="91" name="Foot R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</a:rPr>
              <a:t>Confidential &amp; Proprietary  |  HiLabs 2026</a:t>
            </a:r>
          </a:p>
        </p:txBody>
      </p:sp>
    </p:spTree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 Five-Stage Validation Pipeline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provider records to a final verdict — rules first, ML second, robocall last.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R3 evidence, claims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32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2880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2880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 in 4 groups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818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74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166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Models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5166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+ Conclusivity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7104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60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7452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7452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thresholds + triage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390888" y="2212848"/>
            <a:ext cx="237744" cy="237744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46920" y="16459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383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97383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973836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queue, evidence trail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502920" y="333756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3375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(Discovery)  ·  Track 2 (Signal Engineering)  ·  Track 3 (Robocall Triage)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-3092885" y="4746947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b="1">
              <a:solidFill>
                <a:srgbClr val="16A34A"/>
              </a:solidFill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-3001445" y="5569907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>
              <a:solidFill>
                <a:srgbClr val="1F2937"/>
              </a:solidFill>
              <a:ea typeface="Calibri"/>
              <a:cs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58640" y="4472627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50080" y="4701227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200"/>
          </a:p>
        </p:txBody>
      </p:sp>
      <p:sp>
        <p:nvSpPr>
          <p:cNvPr id="37" name="Text 35"/>
          <p:cNvSpPr/>
          <p:nvPr/>
        </p:nvSpPr>
        <p:spPr>
          <a:xfrm>
            <a:off x="4541520" y="5524187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Records Sent to Calling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2" name="Shape 40"/>
          <p:cNvSpPr/>
          <p:nvPr/>
        </p:nvSpPr>
        <p:spPr>
          <a:xfrm>
            <a:off x="3950292" y="6547020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When R3 Is Wrong</a:t>
            </a:r>
            <a:endParaRPr lang="en-US" sz="500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specialised ML models, trained on EDA-driven features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Group A: Risk Priors &amp; Human Signals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EDA, encoded as features the model can reason about.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673426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947746"/>
            <a:ext cx="1051560" cy="1051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47746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1874520" y="185630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feat_state_high_risk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874520" y="222206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Risk Prior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874520" y="254210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strict suspicion penalty to historically messy states (AL, MI, NJ).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7086600" y="1856306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94774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7223760" y="222206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regional failure rates without memorizing specific ZIP codes — prevents overfitting.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57200" y="4014439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288759"/>
            <a:ext cx="1051560" cy="1051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88759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200"/>
          </a:p>
        </p:txBody>
      </p:sp>
      <p:sp>
        <p:nvSpPr>
          <p:cNvPr id="27" name="Text 25"/>
          <p:cNvSpPr/>
          <p:nvPr/>
        </p:nvSpPr>
        <p:spPr>
          <a:xfrm>
            <a:off x="1874520" y="4197319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A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feat_r3_score_numeric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1874520" y="4563079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Paradox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1874520" y="4883119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R3's own confidence score as a feature, with full awareness it inverts at the high end.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086600" y="4197319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428875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7223760" y="4563079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model learn the U-shape: very high R3 scores are just as risky as very low ones.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Group B: Claims-Derived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billing data is the ultimate defensive shield against stale web directories.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187452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feat_claims_n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8745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Existence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187452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 billed, plus a binary flag for any billing activity at all.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7086600" y="128016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722376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financial billing &gt; stale web directories.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feat_claims_days_since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87452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Matters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874520" y="3703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exact days since the last billed claim.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7086600" y="301752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trusting massive but outdated claims volume.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1051560" cy="10515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/>
          </a:p>
        </p:txBody>
      </p:sp>
      <p:sp>
        <p:nvSpPr>
          <p:cNvPr id="27" name="Text 25"/>
          <p:cNvSpPr/>
          <p:nvPr/>
        </p:nvSpPr>
        <p:spPr>
          <a:xfrm>
            <a:off x="18745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feat_claims_distinct_orgs</a:t>
            </a:r>
            <a:r>
              <a:rPr lang="en-US" sz="1300" b="1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</a:t>
            </a:r>
            <a:r>
              <a:rPr lang="en-US" sz="1300" b="1" err="1">
                <a:solidFill>
                  <a:srgbClr val="0F5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feat_claims_distinct_addrs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8745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Roving Provider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187452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spread of a provider's billing footprint across orgs and addresses.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7086600" y="47548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7223760" y="5120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hospitalists rotating across clinics — R3 can't reliably pick a primary location.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Disagreement Risk Scorer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everything we know before calling, how likely is R3's verdict to be wrong?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07707" y="1143000"/>
            <a:ext cx="58521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(5-fold CV)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±0.019 — stable, not overfitting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249936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936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0.823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49936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Score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54508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precision on positive class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0.330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F1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249936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936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249936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54508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/ recall</a:t>
            </a:r>
            <a:endParaRPr lang="en-US" sz="800"/>
          </a:p>
        </p:txBody>
      </p:sp>
      <p:sp>
        <p:nvSpPr>
          <p:cNvPr id="29" name="Shape 27"/>
          <p:cNvSpPr/>
          <p:nvPr/>
        </p:nvSpPr>
        <p:spPr>
          <a:xfrm>
            <a:off x="4312920" y="1892808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DEBF7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12920" y="1984248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002060"/>
                </a:solidFill>
              </a:rPr>
              <a:t>LightGBM</a:t>
            </a:r>
            <a:endParaRPr lang="en-US" b="1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12920" y="2487168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358640" y="276148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isotonically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mean the threshold 0.330 is meaningful — and the same threshold works across folds.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6446520" y="2435193"/>
            <a:ext cx="5349240" cy="286832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46520" y="2435193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237286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 at threshold 0.330</a:t>
            </a:r>
            <a:endParaRPr lang="en-US" sz="1300"/>
          </a:p>
        </p:txBody>
      </p:sp>
      <p:sp>
        <p:nvSpPr>
          <p:cNvPr id="38" name="Shape 36"/>
          <p:cNvSpPr/>
          <p:nvPr/>
        </p:nvSpPr>
        <p:spPr>
          <a:xfrm>
            <a:off x="6629400" y="3212433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3303873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 —  R3 was correct (PROTECT)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6720840" y="3669633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1,232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91.3%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Falsely flagged</a:t>
            </a: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107 records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6" name="Shape 44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What It Learned (SHAP Feature Importance)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focusing on Claims and Risk Priors, the model reasons rather than guesses.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1480" y="6263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(mean |SHAP|)</a:t>
            </a:r>
            <a:endParaRPr lang="en-US" sz="1000"/>
          </a:p>
        </p:txBody>
      </p:sp>
      <p:sp>
        <p:nvSpPr>
          <p:cNvPr id="11" name="Text 7"/>
          <p:cNvSpPr/>
          <p:nvPr/>
        </p:nvSpPr>
        <p:spPr>
          <a:xfrm>
            <a:off x="6263640" y="62636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SHAP values (red = pushes toward R3 wrong)</a:t>
            </a:r>
            <a:endParaRPr lang="en-US" sz="100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13" name="Shape 9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21EB62-0FAC-97D4-BE32-80355CED2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157134"/>
            <a:ext cx="5496560" cy="49808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12581F-66B3-7433-976C-D207D4F2B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57135"/>
            <a:ext cx="5440680" cy="49808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Ruthless Feature Pruning — Signal vs Noise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removed every zero-correlation feature. The final model is leaner, faster, and harder to fool.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65836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178040" y="1097280"/>
            <a:ext cx="4617720" cy="50749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78040" y="1097280"/>
            <a:ext cx="461772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78040" y="10972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cut zero-correlation features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7360920" y="1783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7360920" y="20574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Sweetviz revealed several engineered features had exactly 0.00 correlation with R3 failures.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7360920" y="2788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"Dead" Features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7543800" y="30632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 Deactivated  →  0.00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 Changed  →  0.00</a:t>
            </a:r>
            <a:endParaRPr lang="en-US" sz="11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in Org (PIO)  →  0.00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7360920" y="41605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of Noise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7360920" y="443484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(LightGBM, XGBoost) will memorize random anomalies in noise features, destroying real-world generalization.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7360920" y="5349240"/>
            <a:ext cx="425196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60920" y="53492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Pruned all zero-signal features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1D348-561F-75A8-C84A-589AB3A02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69414"/>
            <a:ext cx="6583680" cy="49570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Call Conclusivity Predictor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R3 is wrong, will a robocall to this provider yield a usable verdict? A wasted call is $0.50.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64229"/>
            <a:ext cx="58521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(5-fold CV)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±0.011 — very high, very stable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249936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936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49936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Score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54508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precision on positives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4312920" y="187452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12920" y="196596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4312920" y="246888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358640" y="274320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 → 0.055 — already well calibrated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0.470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Threshold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249936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936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0.952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249936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54508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balance</a:t>
            </a:r>
            <a:endParaRPr lang="en-US" sz="800"/>
          </a:p>
        </p:txBody>
      </p:sp>
      <p:sp>
        <p:nvSpPr>
          <p:cNvPr id="29" name="Shape 27"/>
          <p:cNvSpPr/>
          <p:nvPr/>
        </p:nvSpPr>
        <p:spPr>
          <a:xfrm>
            <a:off x="4312920" y="3200400"/>
            <a:ext cx="1676400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12920" y="3291840"/>
            <a:ext cx="167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F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LGBM</a:t>
            </a:r>
            <a:endParaRPr lang="en-US" sz="2200"/>
          </a:p>
        </p:txBody>
      </p:sp>
      <p:sp>
        <p:nvSpPr>
          <p:cNvPr id="31" name="Text 29"/>
          <p:cNvSpPr/>
          <p:nvPr/>
        </p:nvSpPr>
        <p:spPr>
          <a:xfrm>
            <a:off x="4312920" y="379476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358640" y="406908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max_depth=4, lambda_l2=1.0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63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120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91.3% net accuracy: the model correctly identifies 9 in 10 calls that will yield a verdict.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6446520" y="109728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46520" y="109728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10972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 at threshold 0.470</a:t>
            </a:r>
            <a:endParaRPr lang="en-US" sz="1300"/>
          </a:p>
        </p:txBody>
      </p:sp>
      <p:sp>
        <p:nvSpPr>
          <p:cNvPr id="38" name="Shape 36"/>
          <p:cNvSpPr/>
          <p:nvPr/>
        </p:nvSpPr>
        <p:spPr>
          <a:xfrm>
            <a:off x="6629400" y="1828800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1874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Model B's zones differ — based on call outcome, not R3 outcome.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6629400" y="278892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2084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 —  Call returned INCONCLUSIVE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720840" y="32004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records  ·  hospital systems and unreachable specialties</a:t>
            </a:r>
            <a:endParaRPr lang="en-US" sz="1100"/>
          </a:p>
        </p:txBody>
      </p:sp>
      <p:sp>
        <p:nvSpPr>
          <p:cNvPr id="43" name="Shape 41"/>
          <p:cNvSpPr/>
          <p:nvPr/>
        </p:nvSpPr>
        <p:spPr>
          <a:xfrm>
            <a:off x="6629400" y="420624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840" y="4297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 —  Call returned ACCURATE / INACCURATE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672084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2,246 records  ·  most office-based providers in primary care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6629400" y="5623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Model A, this lets us avoid burning $0.50 on unanswered hospital lines.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What It Learned (SHAP)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feat_low_claim_specialty dominates: clinical social workers, neuropsychologists, psychiatrists.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63640" y="1097280"/>
            <a:ext cx="5532120" cy="5074920"/>
          </a:xfrm>
          <a:prstGeom prst="roundRect">
            <a:avLst>
              <a:gd name="adj" fmla="val 1802"/>
            </a:avLst>
          </a:prstGeom>
          <a:solidFill>
            <a:srgbClr val="FAFAFA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11480" y="6263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— feat_low_claim_specialty leads at SHAP 2.454</a:t>
            </a:r>
            <a:endParaRPr lang="en-US" sz="1000"/>
          </a:p>
        </p:txBody>
      </p:sp>
      <p:sp>
        <p:nvSpPr>
          <p:cNvPr id="11" name="Text 7"/>
          <p:cNvSpPr/>
          <p:nvPr/>
        </p:nvSpPr>
        <p:spPr>
          <a:xfrm>
            <a:off x="6263640" y="626364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 SHAP — red = pushes toward INCONCLUSIVE</a:t>
            </a:r>
            <a:endParaRPr lang="en-US" sz="100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13" name="Shape 9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EF31FC-3C13-7604-E9E0-5B6E13EE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1097280"/>
            <a:ext cx="5669280" cy="4937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3348BB-F6C9-22D4-F490-002E3476E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39" y="1127952"/>
            <a:ext cx="5532120" cy="50442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Decision</a:t>
            </a:r>
            <a:endParaRPr lang="en-US" sz="500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models, applying rules, and assigning the final status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Models — One Decision per Record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buckets, two conclusive-rate passes — process in strict order until 30% budget is filled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83602" y="1097280"/>
            <a:ext cx="8033338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2895" y="1097280"/>
            <a:ext cx="8033338" cy="475042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Priority Loops at Glance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828057"/>
            <a:ext cx="7298844" cy="814411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46642"/>
            <a:ext cx="7280259" cy="795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B45309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b="1">
                <a:solidFill>
                  <a:srgbClr val="B45309"/>
                </a:solidFill>
                <a:latin typeface="Consolas"/>
                <a:ea typeface="Consolas" pitchFamily="34" charset="-122"/>
                <a:cs typeface="Consolas" pitchFamily="34" charset="-120"/>
              </a:rPr>
              <a:t>  P1 R3 = INCONCLUSIVE  </a:t>
            </a:r>
            <a:br>
              <a:rPr lang="en-US" sz="1600" b="1">
                <a:latin typeface="Consolas"/>
                <a:ea typeface="Consolas" pitchFamily="34" charset="-122"/>
                <a:cs typeface="Consolas" pitchFamily="34" charset="-120"/>
              </a:rPr>
            </a:br>
            <a:r>
              <a:rPr lang="en-US" sz="1600" b="1">
                <a:solidFill>
                  <a:srgbClr val="B45309"/>
                </a:solidFill>
                <a:latin typeface="Consolas"/>
                <a:ea typeface="Consolas" pitchFamily="34" charset="-122"/>
                <a:cs typeface="Consolas" pitchFamily="34" charset="-120"/>
              </a:rPr>
              <a:t>  P2 model uncertain  </a:t>
            </a:r>
            <a:br>
              <a:rPr lang="en-US" sz="1600" b="1">
                <a:latin typeface="Consolas"/>
                <a:ea typeface="Consolas" pitchFamily="34" charset="-122"/>
                <a:cs typeface="Consolas" pitchFamily="34" charset="-120"/>
              </a:rPr>
            </a:br>
            <a:r>
              <a:rPr lang="en-US" sz="1600" b="1">
                <a:solidFill>
                  <a:srgbClr val="B45309"/>
                </a:solidFill>
                <a:latin typeface="Consolas"/>
                <a:ea typeface="Consolas" pitchFamily="34" charset="-122"/>
                <a:cs typeface="Consolas" pitchFamily="34" charset="-120"/>
              </a:rPr>
              <a:t>P3 likely R3 wrong</a:t>
            </a:r>
            <a:endParaRPr lang="en-US" sz="1600">
              <a:latin typeface="Consola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three providers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7298844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R3 = INCONCLUSIVE </a:t>
            </a:r>
            <a:br>
              <a:rPr lang="en-US" sz="1100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</a:br>
            <a:r>
              <a:rPr lang="en-US" sz="1100" err="1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p_conc</a:t>
            </a:r>
            <a:r>
              <a:rPr lang="en-US" sz="1100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 0.88    →    Bucket P1</a:t>
            </a:r>
            <a:endParaRPr lang="en-US" sz="1100">
              <a:latin typeface="Consola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1370" y="3172522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1370" y="317252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 CALL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7298844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82880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    </a:t>
            </a:r>
            <a:r>
              <a:rPr lang="en-US" sz="1100" err="1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p_conc</a:t>
            </a: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0.08    →    Hospital guard removes from pool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941370" y="3949762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1370" y="394976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hospital won't answer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85800" y="4663440"/>
            <a:ext cx="7298844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1828800" y="4700610"/>
            <a:ext cx="3798105" cy="6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p_wrong</a:t>
            </a:r>
            <a:r>
              <a:rPr lang="en-US" sz="1100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 0.08    </a:t>
            </a:r>
            <a:br>
              <a:rPr lang="en-US" sz="1100">
                <a:latin typeface="Consolas"/>
                <a:ea typeface="Consolas" pitchFamily="34" charset="-122"/>
                <a:cs typeface="Consolas" pitchFamily="34" charset="-120"/>
              </a:rPr>
            </a:br>
            <a:r>
              <a:rPr lang="en-US" sz="1100" err="1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p_conc</a:t>
            </a:r>
            <a:r>
              <a:rPr lang="en-US" sz="1100">
                <a:solidFill>
                  <a:srgbClr val="1F2937"/>
                </a:solidFill>
                <a:latin typeface="Consolas"/>
                <a:ea typeface="Consolas" pitchFamily="34" charset="-122"/>
                <a:cs typeface="Consolas" pitchFamily="34" charset="-120"/>
              </a:rPr>
              <a:t> 0.92    →    Retain R3 (no bucket)</a:t>
            </a:r>
            <a:endParaRPr lang="en-US" sz="1100">
              <a:latin typeface="Consola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1370" y="4727002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1370" y="472700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R3 — model agrees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8804260" y="1329597"/>
            <a:ext cx="2972916" cy="256589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04260" y="1301719"/>
            <a:ext cx="2963623" cy="502920"/>
          </a:xfrm>
          <a:prstGeom prst="roundRect">
            <a:avLst>
              <a:gd name="adj" fmla="val 18182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04260" y="1301719"/>
            <a:ext cx="2963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 reality/Constraint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 flipV="1">
            <a:off x="8987140" y="2572587"/>
            <a:ext cx="2727960" cy="9292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87140" y="1987519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8987140" y="2261839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30%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 flipV="1">
            <a:off x="8987140" y="3249243"/>
            <a:ext cx="2727960" cy="9292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987140" y="2664175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Conclusive rate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8987140" y="2938495"/>
            <a:ext cx="272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(fixed by spec)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8977847" y="3307823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Call cost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977847" y="3582143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$0.50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713232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Priority Logic — Decision Flow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strict sequential loops (call conclusive prob &gt;= 0.75), with a fallback pass (0.65) if the 30% cap is not yet reached.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905256" y="6592824"/>
            <a:ext cx="82296" cy="822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0" y="65471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1325880" y="786384"/>
            <a:ext cx="5257800" cy="347472"/>
          </a:xfrm>
          <a:prstGeom prst="roundRect">
            <a:avLst>
              <a:gd name="adj" fmla="val 18421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17320" y="786384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—  Provider records with both model output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3954780" y="1210856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25880" y="1298448"/>
            <a:ext cx="5257800" cy="420624"/>
          </a:xfrm>
          <a:prstGeom prst="roundRect">
            <a:avLst>
              <a:gd name="adj" fmla="val 15217"/>
            </a:avLst>
          </a:prstGeom>
          <a:solidFill>
            <a:srgbClr val="DDEBF7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17320" y="131673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filter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417320" y="1517904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records with  Call Conclusive Prob  &gt;= 0.75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954780" y="1776822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325880" y="1883664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778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17320" y="19019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  |  Priority 1  —  R3 engine output = INCONCLUSIVE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417320" y="21214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Call Conc. Prob  0.99 down to 0.75     add records to call queue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954780" y="2408239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131820" y="2505456"/>
            <a:ext cx="1645920" cy="64008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41548" y="25420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954780" y="3145536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26180" y="3127248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26180" y="3127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1325880" y="331012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 w="1778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417320" y="33284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2  |  Priority 2  —  Model inconclusive   p_r3_wrong in [0.14, 0.54]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417320" y="354787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Call Conc. Prob  0.99 down to 0.75     add records to call queue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3954780" y="3844328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131820" y="3931920"/>
            <a:ext cx="1645920" cy="64008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1548" y="3968496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3954780" y="4572000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26180" y="455371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26180" y="4553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1325880" y="4736592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DDEBF7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417320" y="475488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3  |  Priority 3  —  Likely R3 wrong   p_r3_wrong in [0.53, 0.75]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417320" y="497433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Call Conc. Prob  0.99 down to 0.75     add records to call queue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954780" y="5251542"/>
            <a:ext cx="0" cy="54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131820" y="5358384"/>
            <a:ext cx="1645920" cy="640080"/>
          </a:xfrm>
          <a:prstGeom prst="diamond">
            <a:avLst/>
          </a:prstGeom>
          <a:solidFill>
            <a:srgbClr val="FEF3C7"/>
          </a:solidFill>
          <a:ln w="158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41548" y="53949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reached?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823460" y="2825496"/>
            <a:ext cx="19888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589270" y="2724912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89270" y="2724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/>
          </a:p>
        </p:txBody>
      </p:sp>
      <p:sp>
        <p:nvSpPr>
          <p:cNvPr id="43" name="Shape 41"/>
          <p:cNvSpPr/>
          <p:nvPr/>
        </p:nvSpPr>
        <p:spPr>
          <a:xfrm>
            <a:off x="4823460" y="4251960"/>
            <a:ext cx="19888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589270" y="4151376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589270" y="4151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4823460" y="5678424"/>
            <a:ext cx="198882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589270" y="5577840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589270" y="5577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/>
          </a:p>
        </p:txBody>
      </p:sp>
      <p:sp>
        <p:nvSpPr>
          <p:cNvPr id="49" name="Shape 47"/>
          <p:cNvSpPr/>
          <p:nvPr/>
        </p:nvSpPr>
        <p:spPr>
          <a:xfrm>
            <a:off x="6858000" y="2747772"/>
            <a:ext cx="4937760" cy="1234440"/>
          </a:xfrm>
          <a:prstGeom prst="roundRect">
            <a:avLst>
              <a:gd name="adj" fmla="val 51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95160" y="28117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1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6995160" y="30129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Call</a:t>
            </a:r>
            <a:endParaRPr lang="en-US" sz="2000"/>
          </a:p>
        </p:txBody>
      </p:sp>
      <p:sp>
        <p:nvSpPr>
          <p:cNvPr id="52" name="Text 50"/>
          <p:cNvSpPr/>
          <p:nvPr/>
        </p:nvSpPr>
        <p:spPr>
          <a:xfrm>
            <a:off x="6995160" y="34701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records enter the robocall queue</a:t>
            </a:r>
            <a:endParaRPr lang="en-US" sz="950"/>
          </a:p>
        </p:txBody>
      </p:sp>
      <p:sp>
        <p:nvSpPr>
          <p:cNvPr id="53" name="Text 51"/>
          <p:cNvSpPr/>
          <p:nvPr/>
        </p:nvSpPr>
        <p:spPr>
          <a:xfrm>
            <a:off x="6995160" y="37170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Call Conclusive Prob descending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3954780" y="5998464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726180" y="6025896"/>
            <a:ext cx="45720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726180" y="6025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 flipV="1">
            <a:off x="1170432" y="6163056"/>
            <a:ext cx="2555744" cy="3657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170428" y="4041648"/>
            <a:ext cx="2" cy="2157984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 flipH="1" flipV="1">
            <a:off x="896112" y="4041648"/>
            <a:ext cx="274320" cy="17325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91440" y="3511296"/>
            <a:ext cx="804672" cy="1060704"/>
          </a:xfrm>
          <a:prstGeom prst="roundRect">
            <a:avLst>
              <a:gd name="adj" fmla="val 795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91440" y="35387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50"/>
          </a:p>
        </p:txBody>
      </p:sp>
      <p:sp>
        <p:nvSpPr>
          <p:cNvPr id="62" name="Text 60"/>
          <p:cNvSpPr/>
          <p:nvPr/>
        </p:nvSpPr>
        <p:spPr>
          <a:xfrm>
            <a:off x="91440" y="384048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0.75-&gt;0.65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1-3</a:t>
            </a:r>
            <a:endParaRPr lang="en-US" sz="750"/>
          </a:p>
        </p:txBody>
      </p:sp>
      <p:sp>
        <p:nvSpPr>
          <p:cNvPr id="63" name="Shape 61"/>
          <p:cNvSpPr/>
          <p:nvPr/>
        </p:nvSpPr>
        <p:spPr>
          <a:xfrm>
            <a:off x="6858000" y="4110228"/>
            <a:ext cx="4937760" cy="822960"/>
          </a:xfrm>
          <a:prstGeom prst="roundRect">
            <a:avLst>
              <a:gd name="adj" fmla="val 7778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95160" y="41468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loops:  records NOT in the 30% set receive one of these final statuses:</a:t>
            </a:r>
            <a:endParaRPr lang="en-US" sz="950"/>
          </a:p>
        </p:txBody>
      </p:sp>
      <p:sp>
        <p:nvSpPr>
          <p:cNvPr id="65" name="Shape 63"/>
          <p:cNvSpPr/>
          <p:nvPr/>
        </p:nvSpPr>
        <p:spPr>
          <a:xfrm>
            <a:off x="6995160" y="4430268"/>
            <a:ext cx="1490472" cy="438912"/>
          </a:xfrm>
          <a:prstGeom prst="roundRect">
            <a:avLst>
              <a:gd name="adj" fmla="val 14583"/>
            </a:avLst>
          </a:prstGeom>
          <a:solidFill>
            <a:srgbClr val="FEE2E2"/>
          </a:solidFill>
          <a:ln w="1016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031736" y="44485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R3</a:t>
            </a:r>
            <a:endParaRPr lang="en-US" sz="900"/>
          </a:p>
        </p:txBody>
      </p:sp>
      <p:sp>
        <p:nvSpPr>
          <p:cNvPr id="67" name="Text 65"/>
          <p:cNvSpPr/>
          <p:nvPr/>
        </p:nvSpPr>
        <p:spPr>
          <a:xfrm>
            <a:off x="7031736" y="46497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p_r3_wrong &gt; 0.53</a:t>
            </a:r>
            <a:endParaRPr lang="en-US" sz="750"/>
          </a:p>
        </p:txBody>
      </p:sp>
      <p:sp>
        <p:nvSpPr>
          <p:cNvPr id="68" name="Shape 66"/>
          <p:cNvSpPr/>
          <p:nvPr/>
        </p:nvSpPr>
        <p:spPr>
          <a:xfrm>
            <a:off x="8586216" y="4430268"/>
            <a:ext cx="1490472" cy="438912"/>
          </a:xfrm>
          <a:prstGeom prst="roundRect">
            <a:avLst>
              <a:gd name="adj" fmla="val 14583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8622792" y="44485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R3</a:t>
            </a:r>
            <a:endParaRPr lang="en-US" sz="900"/>
          </a:p>
        </p:txBody>
      </p:sp>
      <p:sp>
        <p:nvSpPr>
          <p:cNvPr id="70" name="Text 68"/>
          <p:cNvSpPr/>
          <p:nvPr/>
        </p:nvSpPr>
        <p:spPr>
          <a:xfrm>
            <a:off x="8622792" y="46497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p_r3_wrong &lt; 0.15</a:t>
            </a:r>
            <a:endParaRPr lang="en-US" sz="750"/>
          </a:p>
        </p:txBody>
      </p:sp>
      <p:sp>
        <p:nvSpPr>
          <p:cNvPr id="71" name="Shape 69"/>
          <p:cNvSpPr/>
          <p:nvPr/>
        </p:nvSpPr>
        <p:spPr>
          <a:xfrm>
            <a:off x="10177272" y="4430268"/>
            <a:ext cx="1490472" cy="438912"/>
          </a:xfrm>
          <a:prstGeom prst="roundRect">
            <a:avLst>
              <a:gd name="adj" fmla="val 14583"/>
            </a:avLst>
          </a:prstGeom>
          <a:solidFill>
            <a:srgbClr val="FEF3C7"/>
          </a:solidFill>
          <a:ln w="1016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0213848" y="44485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900"/>
          </a:p>
        </p:txBody>
      </p:sp>
      <p:sp>
        <p:nvSpPr>
          <p:cNvPr id="73" name="Text 71"/>
          <p:cNvSpPr/>
          <p:nvPr/>
        </p:nvSpPr>
        <p:spPr>
          <a:xfrm>
            <a:off x="10213848" y="46497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p_r3_wrong in [0.14, 0.54]</a:t>
            </a:r>
            <a:endParaRPr lang="en-US" sz="750"/>
          </a:p>
        </p:txBody>
      </p:sp>
      <p:sp>
        <p:nvSpPr>
          <p:cNvPr id="74" name="Shape 72"/>
          <p:cNvSpPr/>
          <p:nvPr/>
        </p:nvSpPr>
        <p:spPr>
          <a:xfrm>
            <a:off x="6858000" y="5024628"/>
            <a:ext cx="4937760" cy="1001268"/>
          </a:xfrm>
          <a:prstGeom prst="roundRect">
            <a:avLst>
              <a:gd name="adj" fmla="val 11200"/>
            </a:avLst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58000" y="5024628"/>
            <a:ext cx="4937760" cy="256032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995160" y="50246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950"/>
          </a:p>
        </p:txBody>
      </p:sp>
      <p:sp>
        <p:nvSpPr>
          <p:cNvPr id="77" name="Text 75"/>
          <p:cNvSpPr/>
          <p:nvPr/>
        </p:nvSpPr>
        <p:spPr>
          <a:xfrm>
            <a:off x="6995160" y="5326380"/>
            <a:ext cx="4663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hard cap on call queue</a:t>
            </a:r>
            <a:endParaRPr lang="en-US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are strictly sequential — each must fully complete before the next begins</a:t>
            </a:r>
            <a:endParaRPr lang="en-US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loop, records are sorted by Call Conc. Prob descending (0.99 first)</a:t>
            </a:r>
            <a:endParaRPr lang="en-US" sz="1050"/>
          </a:p>
        </p:txBody>
      </p:sp>
      <p:sp>
        <p:nvSpPr>
          <p:cNvPr id="78" name="Shape 76"/>
          <p:cNvSpPr/>
          <p:nvPr/>
        </p:nvSpPr>
        <p:spPr>
          <a:xfrm>
            <a:off x="91440" y="786384"/>
            <a:ext cx="1170432" cy="2688336"/>
          </a:xfrm>
          <a:prstGeom prst="roundRect">
            <a:avLst>
              <a:gd name="adj" fmla="val 5469"/>
            </a:avLst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91440" y="786384"/>
            <a:ext cx="1170432" cy="256032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46304" y="7863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B3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/>
          </a:p>
        </p:txBody>
      </p:sp>
      <p:sp>
        <p:nvSpPr>
          <p:cNvPr id="81" name="Text 79"/>
          <p:cNvSpPr/>
          <p:nvPr/>
        </p:nvSpPr>
        <p:spPr>
          <a:xfrm>
            <a:off x="146304" y="7863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/>
          </a:p>
        </p:txBody>
      </p:sp>
      <p:sp>
        <p:nvSpPr>
          <p:cNvPr id="82" name="Shape 80"/>
          <p:cNvSpPr/>
          <p:nvPr/>
        </p:nvSpPr>
        <p:spPr>
          <a:xfrm>
            <a:off x="164592" y="1167506"/>
            <a:ext cx="256032" cy="327721"/>
          </a:xfrm>
          <a:prstGeom prst="roundRect">
            <a:avLst>
              <a:gd name="adj" fmla="val 14286"/>
            </a:avLst>
          </a:prstGeom>
          <a:solidFill>
            <a:srgbClr val="DDEBF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75488" y="1097280"/>
            <a:ext cx="7498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750"/>
          </a:p>
        </p:txBody>
      </p:sp>
      <p:sp>
        <p:nvSpPr>
          <p:cNvPr id="84" name="Shape 82"/>
          <p:cNvSpPr/>
          <p:nvPr/>
        </p:nvSpPr>
        <p:spPr>
          <a:xfrm>
            <a:off x="164592" y="1612270"/>
            <a:ext cx="256032" cy="374538"/>
          </a:xfrm>
          <a:prstGeom prst="diamond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75488" y="1565453"/>
            <a:ext cx="7498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/>
          </a:p>
        </p:txBody>
      </p:sp>
      <p:sp>
        <p:nvSpPr>
          <p:cNvPr id="86" name="Shape 84"/>
          <p:cNvSpPr/>
          <p:nvPr/>
        </p:nvSpPr>
        <p:spPr>
          <a:xfrm>
            <a:off x="182880" y="2267712"/>
            <a:ext cx="219456" cy="0"/>
          </a:xfrm>
          <a:prstGeom prst="line">
            <a:avLst/>
          </a:prstGeom>
          <a:noFill/>
          <a:ln w="2286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75488" y="2033626"/>
            <a:ext cx="7498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exit</a:t>
            </a:r>
            <a:endParaRPr lang="en-US" sz="750"/>
          </a:p>
        </p:txBody>
      </p:sp>
      <p:sp>
        <p:nvSpPr>
          <p:cNvPr id="88" name="Shape 86"/>
          <p:cNvSpPr/>
          <p:nvPr/>
        </p:nvSpPr>
        <p:spPr>
          <a:xfrm>
            <a:off x="182880" y="2735885"/>
            <a:ext cx="219456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75488" y="2501798"/>
            <a:ext cx="7498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next</a:t>
            </a:r>
            <a:endParaRPr lang="en-US" sz="750"/>
          </a:p>
        </p:txBody>
      </p:sp>
      <p:sp>
        <p:nvSpPr>
          <p:cNvPr id="90" name="Shape 88"/>
          <p:cNvSpPr/>
          <p:nvPr/>
        </p:nvSpPr>
        <p:spPr>
          <a:xfrm>
            <a:off x="182880" y="3204058"/>
            <a:ext cx="219456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475488" y="2969971"/>
            <a:ext cx="7498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7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— One Verdict per Record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exits the pipeline with one of four statuses.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658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165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Call</a:t>
            </a:r>
            <a:endParaRPr lang="en-US" sz="1700"/>
          </a:p>
        </p:txBody>
      </p:sp>
      <p:sp>
        <p:nvSpPr>
          <p:cNvPr id="11" name="Shape 9"/>
          <p:cNvSpPr/>
          <p:nvPr/>
        </p:nvSpPr>
        <p:spPr>
          <a:xfrm>
            <a:off x="5166360" y="126187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1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914400" y="18745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within the 30% triage threshold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9436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robocall queue. The call result will overwrite this status when it returns.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11658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165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6903720" y="1097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R3</a:t>
            </a:r>
            <a:endParaRPr lang="en-US" sz="1700"/>
          </a:p>
        </p:txBody>
      </p:sp>
      <p:sp>
        <p:nvSpPr>
          <p:cNvPr id="23" name="Shape 21"/>
          <p:cNvSpPr/>
          <p:nvPr/>
        </p:nvSpPr>
        <p:spPr>
          <a:xfrm>
            <a:off x="10972800" y="126187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6720840" y="18745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the 30% set  AND  p_r3_wrong &gt; 0.53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400800" y="278892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R3's existing verdict. ACC → INACC, INACC → ACC. Confidence trail attached.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11480" y="377190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77190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1097280" y="37719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Existing R3</a:t>
            </a:r>
            <a:endParaRPr lang="en-US" sz="1700"/>
          </a:p>
        </p:txBody>
      </p:sp>
      <p:sp>
        <p:nvSpPr>
          <p:cNvPr id="35" name="Shape 33"/>
          <p:cNvSpPr/>
          <p:nvPr/>
        </p:nvSpPr>
        <p:spPr>
          <a:xfrm>
            <a:off x="5166360" y="393649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39364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3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594360" y="4549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914400" y="45491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05840" y="45491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p_r3_wrong &lt; 0.15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594360" y="51892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94360" y="546354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R3's verdict unchanged. The agreement zone is protected.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6217920" y="3771900"/>
            <a:ext cx="5532120" cy="24003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17920" y="3771900"/>
            <a:ext cx="5532120" cy="594360"/>
          </a:xfrm>
          <a:prstGeom prst="roundRect">
            <a:avLst>
              <a:gd name="adj" fmla="val 1538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5508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55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1800"/>
          </a:p>
        </p:txBody>
      </p:sp>
      <p:sp>
        <p:nvSpPr>
          <p:cNvPr id="46" name="Text 44"/>
          <p:cNvSpPr/>
          <p:nvPr/>
        </p:nvSpPr>
        <p:spPr>
          <a:xfrm>
            <a:off x="6903720" y="37719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700"/>
          </a:p>
        </p:txBody>
      </p:sp>
      <p:sp>
        <p:nvSpPr>
          <p:cNvPr id="47" name="Shape 45"/>
          <p:cNvSpPr/>
          <p:nvPr/>
        </p:nvSpPr>
        <p:spPr>
          <a:xfrm>
            <a:off x="10972800" y="3936492"/>
            <a:ext cx="6400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972800" y="39364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4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6400800" y="4549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6720840" y="45491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12280" y="45491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p_r3_wrong  ∈  [0.14, 0.54]  AND not selected for call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6400800" y="51892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6400800" y="5463540"/>
            <a:ext cx="5166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confidently decide. Mark for analyst review or next batch retraining cycle.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55" name="Shape 5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Safety Net (Hypothesis)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that can rescue the model discrepancy. EDA and SHAP both confirm these patterns.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#1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41732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claims at the same address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94360" y="210312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billed at this exact address in last 30 days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billing IS proof of address. Half the time R3 says "remove," claims prove R3 is wrong (EDA #5).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663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389120" y="12344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46634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343400" y="1078029"/>
            <a:ext cx="3749040" cy="44348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43400" y="1078029"/>
            <a:ext cx="3749040" cy="5943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80560" y="1215189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80560" y="1215189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#2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349240" y="1078029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web evidence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526280" y="1855269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526280" y="2083869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208386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 distinct web sources confirm same address along with claims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4526280" y="2952549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4526280" y="3181149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org website, provider website, AND aggregators all converge, and claims also matches, evidence is too strong to override.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4526280" y="4644189"/>
            <a:ext cx="338328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0" y="4644189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ACCURATE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411480" y="5669280"/>
            <a:ext cx="11338560" cy="502920"/>
          </a:xfrm>
          <a:prstGeom prst="roundRect">
            <a:avLst>
              <a:gd name="adj" fmla="val 14545"/>
            </a:avLst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5669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YAML-configured. Operations can toggle individual rules without redeploying code. Every flip carries reason code + SHAP trail.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45" name="Shape 43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EE0A6328-91F2-AB56-C698-D9206A7ED4AE}"/>
              </a:ext>
            </a:extLst>
          </p:cNvPr>
          <p:cNvSpPr/>
          <p:nvPr/>
        </p:nvSpPr>
        <p:spPr>
          <a:xfrm>
            <a:off x="8686800" y="1055169"/>
            <a:ext cx="2788920" cy="2062211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3DBF2D51-7E3A-4DC8-475A-D41DD7C4A5A2}"/>
              </a:ext>
            </a:extLst>
          </p:cNvPr>
          <p:cNvSpPr/>
          <p:nvPr/>
        </p:nvSpPr>
        <p:spPr>
          <a:xfrm>
            <a:off x="8686800" y="1055169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A9BB4C3-1D34-CB9A-45E2-552EC6D0531E}"/>
              </a:ext>
            </a:extLst>
          </p:cNvPr>
          <p:cNvSpPr/>
          <p:nvPr/>
        </p:nvSpPr>
        <p:spPr>
          <a:xfrm>
            <a:off x="8778240" y="1055169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#1</a:t>
            </a:r>
            <a:endParaRPr lang="en-US" sz="1100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02FDCC37-F231-497A-8236-8B6043AFE735}"/>
              </a:ext>
            </a:extLst>
          </p:cNvPr>
          <p:cNvSpPr/>
          <p:nvPr/>
        </p:nvSpPr>
        <p:spPr>
          <a:xfrm>
            <a:off x="8823960" y="160380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deactivated</a:t>
            </a:r>
            <a:endParaRPr lang="en-US" sz="120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97939FD0-715E-0E15-CA82-200B8860DC07}"/>
              </a:ext>
            </a:extLst>
          </p:cNvPr>
          <p:cNvSpPr/>
          <p:nvPr/>
        </p:nvSpPr>
        <p:spPr>
          <a:xfrm>
            <a:off x="8823960" y="1863694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E9609A20-FDCC-7204-B032-298CE157BECB}"/>
              </a:ext>
            </a:extLst>
          </p:cNvPr>
          <p:cNvSpPr/>
          <p:nvPr/>
        </p:nvSpPr>
        <p:spPr>
          <a:xfrm>
            <a:off x="8917805" y="1854069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npi_status</a:t>
            </a:r>
            <a:r>
              <a:rPr lang="en-US" sz="95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inactive</a:t>
            </a:r>
            <a:endParaRPr lang="en-US" sz="95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4717344C-54B3-1E3C-EC09-4B22DB38897D}"/>
              </a:ext>
            </a:extLst>
          </p:cNvPr>
          <p:cNvSpPr/>
          <p:nvPr/>
        </p:nvSpPr>
        <p:spPr>
          <a:xfrm>
            <a:off x="9565105" y="24243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90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140EDFF9-9B5A-5E65-D8FF-A1B380790CFE}"/>
              </a:ext>
            </a:extLst>
          </p:cNvPr>
          <p:cNvSpPr/>
          <p:nvPr/>
        </p:nvSpPr>
        <p:spPr>
          <a:xfrm>
            <a:off x="8823960" y="2693874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B946F4F8-A1B0-EA83-EBEC-109C89E4897E}"/>
              </a:ext>
            </a:extLst>
          </p:cNvPr>
          <p:cNvSpPr/>
          <p:nvPr/>
        </p:nvSpPr>
        <p:spPr>
          <a:xfrm>
            <a:off x="8823960" y="271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9CEBFFFF-E8A3-D1D0-AA2B-BD1D087C3088}"/>
              </a:ext>
            </a:extLst>
          </p:cNvPr>
          <p:cNvSpPr/>
          <p:nvPr/>
        </p:nvSpPr>
        <p:spPr>
          <a:xfrm>
            <a:off x="8686800" y="3197990"/>
            <a:ext cx="2788920" cy="2292019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E705CA8E-8087-6E33-EE12-72258EA510A0}"/>
              </a:ext>
            </a:extLst>
          </p:cNvPr>
          <p:cNvSpPr/>
          <p:nvPr/>
        </p:nvSpPr>
        <p:spPr>
          <a:xfrm>
            <a:off x="8686800" y="319799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DB5E52C2-52DF-BAE8-1C3B-281AD47E5B93}"/>
              </a:ext>
            </a:extLst>
          </p:cNvPr>
          <p:cNvSpPr/>
          <p:nvPr/>
        </p:nvSpPr>
        <p:spPr>
          <a:xfrm>
            <a:off x="8778240" y="319799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 #2</a:t>
            </a:r>
            <a:endParaRPr lang="en-US" sz="110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EC93A1E4-8027-738A-7AB6-7673130D22BA}"/>
              </a:ext>
            </a:extLst>
          </p:cNvPr>
          <p:cNvSpPr/>
          <p:nvPr/>
        </p:nvSpPr>
        <p:spPr>
          <a:xfrm>
            <a:off x="8823960" y="374663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from 2+ different ZIPs</a:t>
            </a:r>
            <a:endParaRPr lang="en-US" sz="120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B49057D0-EDC0-E3AD-CA2E-3D13B5133929}"/>
              </a:ext>
            </a:extLst>
          </p:cNvPr>
          <p:cNvSpPr/>
          <p:nvPr/>
        </p:nvSpPr>
        <p:spPr>
          <a:xfrm>
            <a:off x="8823960" y="4122015"/>
            <a:ext cx="2514600" cy="594360"/>
          </a:xfrm>
          <a:prstGeom prst="roundRect">
            <a:avLst>
              <a:gd name="adj" fmla="val 9231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7912C7B8-C737-EB62-D481-E0BE84FD7957}"/>
              </a:ext>
            </a:extLst>
          </p:cNvPr>
          <p:cNvSpPr/>
          <p:nvPr/>
        </p:nvSpPr>
        <p:spPr>
          <a:xfrm>
            <a:off x="8869680" y="4092295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distinct_zips</a:t>
            </a:r>
            <a:r>
              <a:rPr lang="en-US" sz="95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≥ 2 AND none match R3</a:t>
            </a:r>
            <a:endParaRPr lang="en-US" sz="95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7643A22E-83DA-EA3C-DF58-406287BE7914}"/>
              </a:ext>
            </a:extLst>
          </p:cNvPr>
          <p:cNvSpPr/>
          <p:nvPr/>
        </p:nvSpPr>
        <p:spPr>
          <a:xfrm>
            <a:off x="9439978" y="47267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has moved</a:t>
            </a:r>
            <a:endParaRPr lang="en-US" sz="900"/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E5E0BDD3-FAC5-FF37-E121-188182BE61F4}"/>
              </a:ext>
            </a:extLst>
          </p:cNvPr>
          <p:cNvSpPr/>
          <p:nvPr/>
        </p:nvSpPr>
        <p:spPr>
          <a:xfrm>
            <a:off x="8823960" y="4972407"/>
            <a:ext cx="2514600" cy="402336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284707C1-A7A4-AD43-72AD-83FF5FCB6C7D}"/>
              </a:ext>
            </a:extLst>
          </p:cNvPr>
          <p:cNvSpPr/>
          <p:nvPr/>
        </p:nvSpPr>
        <p:spPr>
          <a:xfrm>
            <a:off x="8823960" y="498107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Force INACCURATE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091"/>
            <a:ext cx="12207240" cy="86868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3931920" cy="868680"/>
          </a:xfrm>
          <a:prstGeom prst="rect">
            <a:avLst/>
          </a:prstGeom>
          <a:solidFill>
            <a:srgbClr val="0B3A8B">
              <a:alpha val="70000"/>
            </a:srgbClr>
          </a:solidFill>
          <a:ln w="12700">
            <a:solidFill>
              <a:srgbClr val="0B3A8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Report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after both model and triage decision, and constraints honored.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70CD911-6E48-7ED0-2ECF-FD7B6659E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14050"/>
              </p:ext>
            </p:extLst>
          </p:nvPr>
        </p:nvGraphicFramePr>
        <p:xfrm>
          <a:off x="673768" y="1712927"/>
          <a:ext cx="10810374" cy="33511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064">
                  <a:extLst>
                    <a:ext uri="{9D8B030D-6E8A-4147-A177-3AD203B41FA5}">
                      <a16:colId xmlns:a16="http://schemas.microsoft.com/office/drawing/2014/main" val="3281715355"/>
                    </a:ext>
                  </a:extLst>
                </a:gridCol>
                <a:gridCol w="1148071">
                  <a:extLst>
                    <a:ext uri="{9D8B030D-6E8A-4147-A177-3AD203B41FA5}">
                      <a16:colId xmlns:a16="http://schemas.microsoft.com/office/drawing/2014/main" val="1511841083"/>
                    </a:ext>
                  </a:extLst>
                </a:gridCol>
                <a:gridCol w="1148071">
                  <a:extLst>
                    <a:ext uri="{9D8B030D-6E8A-4147-A177-3AD203B41FA5}">
                      <a16:colId xmlns:a16="http://schemas.microsoft.com/office/drawing/2014/main" val="4001016199"/>
                    </a:ext>
                  </a:extLst>
                </a:gridCol>
                <a:gridCol w="1132125">
                  <a:extLst>
                    <a:ext uri="{9D8B030D-6E8A-4147-A177-3AD203B41FA5}">
                      <a16:colId xmlns:a16="http://schemas.microsoft.com/office/drawing/2014/main" val="3652597147"/>
                    </a:ext>
                  </a:extLst>
                </a:gridCol>
                <a:gridCol w="1387251">
                  <a:extLst>
                    <a:ext uri="{9D8B030D-6E8A-4147-A177-3AD203B41FA5}">
                      <a16:colId xmlns:a16="http://schemas.microsoft.com/office/drawing/2014/main" val="3180368795"/>
                    </a:ext>
                  </a:extLst>
                </a:gridCol>
                <a:gridCol w="3231846">
                  <a:extLst>
                    <a:ext uri="{9D8B030D-6E8A-4147-A177-3AD203B41FA5}">
                      <a16:colId xmlns:a16="http://schemas.microsoft.com/office/drawing/2014/main" val="2846674144"/>
                    </a:ext>
                  </a:extLst>
                </a:gridCol>
                <a:gridCol w="1503946">
                  <a:extLst>
                    <a:ext uri="{9D8B030D-6E8A-4147-A177-3AD203B41FA5}">
                      <a16:colId xmlns:a16="http://schemas.microsoft.com/office/drawing/2014/main" val="2338110623"/>
                    </a:ext>
                  </a:extLst>
                </a:gridCol>
              </a:tblGrid>
              <a:tr h="8863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R3 Label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R3 Wrong Confidence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Call Conclusive Confidence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Call Priority Rank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Decision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Decision Reason Code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Final Status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613284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0.92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FLIP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HIGH_CONF_PASSIVE_FLIP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ACCURATE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07540499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0.95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FLIP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HIGH_CONF_PASSIVE_FLIP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38006489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0.31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CALL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VERIFY_BY_CALL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SEND_TO_CALL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5191829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0.39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13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CALL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VERIFY_BY_CALL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SEND_TO_CALL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07158202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INCONCLUSIVE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0.38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0.46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INCONCLUSIVE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R3_INCONCLUSIVE_CALL_UNLIKELY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INCONCLUSIVE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90044264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0.06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TRUST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ptos" panose="020B0004020202020204" pitchFamily="34" charset="0"/>
                        </a:rPr>
                        <a:t>HIGH_CONF_FLIP_VERIFY_BY_CALL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4516128"/>
                  </a:ext>
                </a:extLst>
              </a:tr>
              <a:tr h="3521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0.09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0.97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TRUST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ptos" panose="020B0004020202020204" pitchFamily="34" charset="0"/>
                        </a:rPr>
                        <a:t>HIGH_CONF_FLIP_VERIFY_BY_CALL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INACCURATE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7706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056ACB-B7A2-1688-FC42-4BC9F8E59D53}"/>
              </a:ext>
            </a:extLst>
          </p:cNvPr>
          <p:cNvSpPr txBox="1"/>
          <p:nvPr/>
        </p:nvSpPr>
        <p:spPr>
          <a:xfrm>
            <a:off x="454257" y="289659"/>
            <a:ext cx="1115862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Track 1: Problem Discovery and Pattern Analysis (Mandatory) </a:t>
            </a:r>
          </a:p>
          <a:p>
            <a:r>
              <a:rPr lang="en-US" dirty="0"/>
              <a:t>Objective: Systematically analyze the ~400 disagreement records and identify structural </a:t>
            </a:r>
          </a:p>
          <a:p>
            <a:r>
              <a:rPr lang="en-US" dirty="0"/>
              <a:t>patterns that explain why R3 (and the web) disagree with Calling QC. </a:t>
            </a:r>
          </a:p>
          <a:p>
            <a:r>
              <a:rPr lang="en-US" dirty="0"/>
              <a:t>Key Questions to Investigate (non-exhaustive): </a:t>
            </a:r>
          </a:p>
          <a:p>
            <a:r>
              <a:rPr lang="en-US" dirty="0"/>
              <a:t>• </a:t>
            </a:r>
            <a:r>
              <a:rPr lang="en-US" dirty="0">
                <a:solidFill>
                  <a:srgbClr val="FF0000"/>
                </a:solidFill>
              </a:rPr>
              <a:t>Are certain specialties or provider types disproportionately represented in the </a:t>
            </a:r>
          </a:p>
          <a:p>
            <a:r>
              <a:rPr lang="en-US" dirty="0">
                <a:solidFill>
                  <a:srgbClr val="FF0000"/>
                </a:solidFill>
              </a:rPr>
              <a:t>disagreement set? </a:t>
            </a:r>
          </a:p>
          <a:p>
            <a:r>
              <a:rPr lang="en-US" dirty="0">
                <a:solidFill>
                  <a:srgbClr val="FF0000"/>
                </a:solidFill>
              </a:rPr>
              <a:t>Ans - </a:t>
            </a:r>
          </a:p>
          <a:p>
            <a:r>
              <a:rPr lang="en-US" dirty="0"/>
              <a:t>• Do specific geographies or specialties show higher misalignment rates? </a:t>
            </a:r>
          </a:p>
          <a:p>
            <a:r>
              <a:rPr lang="en-US" dirty="0"/>
              <a:t>Ans - </a:t>
            </a:r>
          </a:p>
          <a:p>
            <a:r>
              <a:rPr lang="en-US" dirty="0"/>
              <a:t>• Is there a time-decay pattern? Do recently updated records disagree more or less than </a:t>
            </a:r>
          </a:p>
          <a:p>
            <a:r>
              <a:rPr lang="en-US" dirty="0"/>
              <a:t>stale ones? </a:t>
            </a:r>
          </a:p>
          <a:p>
            <a:r>
              <a:rPr lang="en-US" dirty="0"/>
              <a:t>• What does the claims data tell you about these providers? Are they actively billing from </a:t>
            </a:r>
          </a:p>
          <a:p>
            <a:r>
              <a:rPr lang="en-US" dirty="0"/>
              <a:t>the address R3 validated, or from a different one? </a:t>
            </a:r>
          </a:p>
          <a:p>
            <a:r>
              <a:rPr lang="en-US" dirty="0">
                <a:solidFill>
                  <a:srgbClr val="FF0000"/>
                </a:solidFill>
              </a:rPr>
              <a:t>Out of 100 records/provider in the base data file, I got 90 providers who has submitted the claim out of which the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70 providers address was exactly matching with the base data with no additional address in the claim,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5 providers had the address matching with claim but they had another address as well in the claim, and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6 providers had no matching address – what does r3 result says here.</a:t>
            </a:r>
          </a:p>
          <a:p>
            <a:endParaRPr lang="en-US" dirty="0"/>
          </a:p>
          <a:p>
            <a:r>
              <a:rPr lang="en-US" dirty="0"/>
              <a:t>• Are there identifiable failure archetypes such as providers who moved recently, group </a:t>
            </a:r>
          </a:p>
          <a:p>
            <a:r>
              <a:rPr lang="en-US" dirty="0"/>
              <a:t>practices with multiple locations, telehealth-primary providers with virtual addresses, or </a:t>
            </a:r>
          </a:p>
          <a:p>
            <a:r>
              <a:rPr lang="en-US" dirty="0"/>
              <a:t>shared medical spaces? </a:t>
            </a:r>
          </a:p>
          <a:p>
            <a:r>
              <a:rPr lang="en-US" dirty="0"/>
              <a:t>Deliverable: A structured analysis with a proposed segmentation taxonomy of disagreement </a:t>
            </a:r>
          </a:p>
          <a:p>
            <a:r>
              <a:rPr lang="en-US" dirty="0"/>
              <a:t>patterns, supported by data. Each segment should suggest a different resolution strategy.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4086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E4C"/>
          </a:solidFill>
          <a:ln w="12700">
            <a:solidFill>
              <a:srgbClr val="001E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3A8B">
              <a:alpha val="50000"/>
            </a:srgbClr>
          </a:solidFill>
          <a:ln w="12700">
            <a:solidFill>
              <a:srgbClr val="0B3A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4114800" y="4846320"/>
            <a:ext cx="393192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Last Mile  ·  Bridging the R3 Accuracy Gap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960120" y="6519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HiLabs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4C876B-E903-4893-A52F-183D2A8FDB3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43a22dc-45da-444c-9148-310eed4485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3552</Words>
  <Application>Microsoft Macintosh PowerPoint</Application>
  <PresentationFormat>Widescreen</PresentationFormat>
  <Paragraphs>572</Paragraphs>
  <Slides>33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have distribution of the R3 wrong and right like this  </vt:lpstr>
      <vt:lpstr>Out of 741 records</vt:lpstr>
      <vt:lpstr>Let us deep dive into 465 false removal</vt:lpstr>
      <vt:lpstr>Let us see why R3 is so confident in false removal, Means what is driving that confidence</vt:lpstr>
      <vt:lpstr>Now let us see more</vt:lpstr>
      <vt:lpstr>Here you can see in false keep found urls are more where as in false removal not found urls are more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Closing the Last Mile — Bridging the R3 Accuracy Gap</dc:title>
  <dc:subject>PptxGenJS Presentation</dc:subject>
  <dc:creator>HiLabs Hackathon Team</dc:creator>
  <cp:lastModifiedBy>Kushal Gupta</cp:lastModifiedBy>
  <cp:revision>2</cp:revision>
  <dcterms:created xsi:type="dcterms:W3CDTF">2026-05-10T14:54:12Z</dcterms:created>
  <dcterms:modified xsi:type="dcterms:W3CDTF">2026-07-20T09:45:05Z</dcterms:modified>
</cp:coreProperties>
</file>